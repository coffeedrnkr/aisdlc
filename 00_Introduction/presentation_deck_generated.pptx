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33" r:id="rId5"/>
  </p:sldMasterIdLst>
  <p:notesMasterIdLst>
    <p:notesMasterId r:id="rId9"/>
  </p:notesMasterIdLst>
  <p:sldIdLst>
    <p:sldId id="2147483617" r:id="rId6"/>
    <p:sldId id="2147483639" r:id="rId7"/>
    <p:sldId id="2147483622" r:id="rId8"/>
    <p:sldId id="2147483640" r:id="rId15"/>
    <p:sldId id="2147483641" r:id="rId16"/>
    <p:sldId id="2147483642" r:id="rId17"/>
    <p:sldId id="2147483643" r:id="rId18"/>
    <p:sldId id="2147483644" r:id="rId19"/>
    <p:sldId id="2147483645" r:id="rId20"/>
    <p:sldId id="2147483646" r:id="rId21"/>
    <p:sldId id="2147483647" r:id="rId22"/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305" r:id="rId72"/>
    <p:sldId id="306" r:id="rId73"/>
    <p:sldId id="307" r:id="rId74"/>
    <p:sldId id="308" r:id="rId75"/>
    <p:sldId id="309" r:id="rId76"/>
    <p:sldId id="310" r:id="rId77"/>
    <p:sldId id="311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240E427-E078-0E53-0EE3-8C6EBADB7930}" name="David Bradfield" initials="DB" userId="S::DBR@economical.com::eb16601e-782f-489c-b947-eac7c8d2ced4" providerId="AD"/>
  <p188:author id="{64D4FD42-38CB-0DF0-A4D9-B897C5AF8EF8}" name="Mitch Kurylowicz(v)" initials="MK" userId="S::H1I@economical.com::d4383d18-8a36-4d2f-b7db-96579bf501ed" providerId="AD"/>
  <p188:author id="{FAA2B657-E3B1-21DC-8EDF-22E54C2D1FE5}" name="Glynda Gill" initials="GG" userId="S::NLA@economical.com::7141a9db-0786-4a75-82fe-5f99fbbe6e57" providerId="AD"/>
  <p188:author id="{CE5E59A7-4A64-00D0-4363-F3517D8EC46C}" name="David Arthurs" initials="DA" userId="S::k7g@economical.com::75eb4798-1d79-4258-92ba-8ea3f6b132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B3"/>
    <a:srgbClr val="004B83"/>
    <a:srgbClr val="008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341" autoAdjust="0"/>
  </p:normalViewPr>
  <p:slideViewPr>
    <p:cSldViewPr snapToGrid="0">
      <p:cViewPr varScale="1">
        <p:scale>
          <a:sx n="71" d="100"/>
          <a:sy n="71" d="100"/>
        </p:scale>
        <p:origin x="54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EC940-9D3F-49EF-BADE-1C32EE05F275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281F-E106-4713-A874-FFD518531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15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D758C-36CC-0049-08B8-9421A826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CF436-E2F6-0696-2DED-F8C29046C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5C1FB-A1E6-3E7E-FB01-221626AAA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/>
              <a:t>Intro</a:t>
            </a:r>
          </a:p>
          <a:p>
            <a:pPr marL="171450" indent="-171450">
              <a:buFontTx/>
              <a:buChar char="-"/>
            </a:pPr>
            <a:r>
              <a:rPr lang="en-US" b="0"/>
              <a:t>The last time we provided an update to this group was at the end of November, and we have made significant progress since then</a:t>
            </a:r>
          </a:p>
          <a:p>
            <a:pPr marL="171450" indent="-171450">
              <a:buFontTx/>
              <a:buChar char="-"/>
            </a:pPr>
            <a:r>
              <a:rPr lang="en-US" b="0"/>
              <a:t>Our plans are locked, the asset inventory is defined, and we are well into execution mode on the path to April 5</a:t>
            </a:r>
          </a:p>
          <a:p>
            <a:pPr marL="0" indent="0">
              <a:buFontTx/>
              <a:buNone/>
            </a:pPr>
            <a:endParaRPr lang="en-US" b="1"/>
          </a:p>
          <a:p>
            <a:pPr marL="0" indent="0">
              <a:buFontTx/>
              <a:buNone/>
            </a:pPr>
            <a:r>
              <a:rPr lang="en-US" b="1"/>
              <a:t>Scope / Progress</a:t>
            </a:r>
          </a:p>
          <a:p>
            <a:pPr marL="171450" indent="-171450">
              <a:buFontTx/>
              <a:buChar char="-"/>
            </a:pPr>
            <a:r>
              <a:rPr lang="en-US"/>
              <a:t>Work is tracking well toward the brand and legal entity change date on April 5</a:t>
            </a:r>
          </a:p>
          <a:p>
            <a:pPr marL="171450" indent="-171450">
              <a:buFontTx/>
              <a:buChar char="-"/>
            </a:pPr>
            <a:r>
              <a:rPr lang="en-US"/>
              <a:t>80%+ of our legally required pre-April 5 disclaimer activities have been finalized, and the remainder are on track</a:t>
            </a:r>
          </a:p>
          <a:p>
            <a:pPr marL="171450" indent="-171450">
              <a:buFontTx/>
              <a:buChar char="-"/>
            </a:pPr>
            <a:r>
              <a:rPr lang="en-US"/>
              <a:t>On April 5, we will execute the name change from TICC and DICC and remove reference to Travelers across all customer-facing documents/assets</a:t>
            </a:r>
          </a:p>
          <a:p>
            <a:pPr marL="171450" indent="-171450">
              <a:buFontTx/>
              <a:buChar char="-"/>
            </a:pPr>
            <a:r>
              <a:rPr lang="en-US"/>
              <a:t>All changes are supported by a detailed change management and communication plan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0" indent="0">
              <a:buFontTx/>
              <a:buNone/>
            </a:pPr>
            <a:r>
              <a:rPr lang="en-US" b="1"/>
              <a:t>Post Close</a:t>
            </a:r>
          </a:p>
          <a:p>
            <a:pPr marL="171450" indent="-171450">
              <a:buFontTx/>
              <a:buChar char="-"/>
            </a:pPr>
            <a:r>
              <a:rPr lang="en-US"/>
              <a:t>Our governance is defined, with Tatjana and Craig serving as Executive Leaders</a:t>
            </a:r>
          </a:p>
          <a:p>
            <a:pPr marL="171450" indent="-171450">
              <a:buFontTx/>
              <a:buChar char="-"/>
            </a:pPr>
            <a:r>
              <a:rPr lang="en-US"/>
              <a:t>Our integrated plan is defined with critical path and dependencies mapped across the Brand program</a:t>
            </a:r>
          </a:p>
          <a:p>
            <a:pPr marL="171450" indent="-171450">
              <a:buFontTx/>
              <a:buChar char="-"/>
            </a:pPr>
            <a:r>
              <a:rPr lang="en-US"/>
              <a:t>We have a clear understanding of customer and broker impact prior to April 5, on April 5, and beyond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0" indent="0">
              <a:buFontTx/>
              <a:buNone/>
            </a:pPr>
            <a:r>
              <a:rPr lang="en-US" b="1"/>
              <a:t>Next Steps</a:t>
            </a:r>
          </a:p>
          <a:p>
            <a:pPr marL="171450" indent="-171450">
              <a:buFontTx/>
              <a:buChar char="-"/>
            </a:pPr>
            <a:r>
              <a:rPr lang="en-US"/>
              <a:t>Execution of April 5 plan is our main priority</a:t>
            </a:r>
          </a:p>
          <a:p>
            <a:pPr marL="171450" indent="-171450">
              <a:buFontTx/>
              <a:buChar char="-"/>
            </a:pPr>
            <a:r>
              <a:rPr lang="en-US"/>
              <a:t>In parallel, we will continue executing our brand communication plan </a:t>
            </a:r>
          </a:p>
          <a:p>
            <a:pPr marL="171450" indent="-171450">
              <a:buFontTx/>
              <a:buChar char="-"/>
            </a:pPr>
            <a:r>
              <a:rPr lang="en-US"/>
              <a:t>Following April 5, we will be running the remaining activities – there are only 3 milestones – as BAU business unit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0D687-066F-E5A5-AF07-24B2D8A71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2039E7-663E-41A4-8391-75771A601AD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85246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1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5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8" y="515771"/>
            <a:ext cx="1645636" cy="4515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8" y="1141467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1"/>
            <a:ext cx="1891863" cy="1269851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9" y="5306928"/>
            <a:ext cx="510964" cy="592547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985A-0E2B-D147-A6B2-64A42B53C78B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97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5" y="4132104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8" y="515771"/>
            <a:ext cx="1645636" cy="4515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8" y="1141467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1"/>
            <a:ext cx="1891863" cy="1269851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9" y="5306928"/>
            <a:ext cx="510964" cy="592547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45E4A-781E-2547-B561-A2CCD6A6AB02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69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6"/>
            <a:ext cx="8839200" cy="6430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3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4BDEE-0A37-424A-AF5F-F7E7EEA414C4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95DA09-B784-4E24-A62A-1D0B7AA82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49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9" y="1800450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14628"/>
            <a:ext cx="11368847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08" indent="-23280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647" indent="-230693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5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102" indent="-23280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5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31">
              <a:spcBef>
                <a:spcPts val="41"/>
              </a:spcBef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31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0687-B76F-F945-9659-9566E796CF75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61CAED-2E89-4915-89DA-9BB4622E6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8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3" y="1814624"/>
            <a:ext cx="5386919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73" y="1820593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16B2F-4B82-1E47-80FF-11B3DC572195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F931DB-02CA-4FF4-B3F0-5AD678A4D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0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6" y="1814624"/>
            <a:ext cx="5386919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3" y="1814624"/>
            <a:ext cx="5386919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5329-9842-8C41-A01E-F5C2974322E9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F962A8-1AA5-4497-9DA2-652393AE6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2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8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6" y="608449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AA64E-1FE4-DC40-8B34-C98CECB865C0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BE08BC-5F14-0370-5D8C-0E83BE86A0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9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9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5" y="2555763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82" indent="0">
              <a:buNone/>
              <a:defRPr sz="2135">
                <a:solidFill>
                  <a:schemeClr val="bg1"/>
                </a:solidFill>
              </a:defRPr>
            </a:lvl2pPr>
            <a:lvl3pPr marL="846571" indent="0">
              <a:buNone/>
              <a:defRPr sz="2135">
                <a:solidFill>
                  <a:schemeClr val="bg1"/>
                </a:solidFill>
              </a:defRPr>
            </a:lvl3pPr>
            <a:lvl4pPr marL="1144986" indent="0">
              <a:buNone/>
              <a:defRPr sz="2135">
                <a:solidFill>
                  <a:schemeClr val="bg1"/>
                </a:solidFill>
              </a:defRPr>
            </a:lvl4pPr>
            <a:lvl5pPr marL="2438122" indent="0">
              <a:buNone/>
              <a:defRPr sz="2135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5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82" indent="0">
              <a:buNone/>
              <a:defRPr sz="2135">
                <a:solidFill>
                  <a:schemeClr val="bg1"/>
                </a:solidFill>
              </a:defRPr>
            </a:lvl2pPr>
            <a:lvl3pPr marL="846571" indent="0">
              <a:buNone/>
              <a:defRPr sz="2135">
                <a:solidFill>
                  <a:schemeClr val="bg1"/>
                </a:solidFill>
              </a:defRPr>
            </a:lvl3pPr>
            <a:lvl4pPr marL="1144986" indent="0">
              <a:buNone/>
              <a:defRPr sz="2135">
                <a:solidFill>
                  <a:schemeClr val="bg1"/>
                </a:solidFill>
              </a:defRPr>
            </a:lvl4pPr>
            <a:lvl5pPr marL="2438122" indent="0">
              <a:buNone/>
              <a:defRPr sz="2135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4A3BC-4588-0141-9E0C-0583BCBD26DF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1874F4-E6F7-4C31-928A-91C29C8A6B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80904" y="6364121"/>
            <a:ext cx="1179576" cy="3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3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5" y="4132101"/>
            <a:ext cx="11170072" cy="11748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6" y="515771"/>
            <a:ext cx="1645636" cy="4515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6" y="1141465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8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985A-0E2B-D147-A6B2-64A42B53C78B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7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5" y="4132102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6" y="515771"/>
            <a:ext cx="1645636" cy="451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6" y="1141465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8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45E4A-781E-2547-B561-A2CCD6A6AB02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99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6"/>
            <a:ext cx="8839200" cy="643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3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04BDEE-0A37-424A-AF5F-F7E7EEA414C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111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5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81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14626"/>
            <a:ext cx="11368846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2" indent="-232822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687" indent="-230707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176" indent="-232822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70">
              <a:spcBef>
                <a:spcPts val="41"/>
              </a:spcBef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70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0687-B76F-F945-9659-9566E796CF7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31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9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16B2F-4B82-1E47-80FF-11B3DC57219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028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6" y="1814623"/>
            <a:ext cx="5386918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5329-9842-8C41-A01E-F5C2974322E9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7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7" y="1814623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4" y="608448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AA64E-1FE4-DC40-8B34-C98CECB865C0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217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49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7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3" y="2555762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11" indent="0">
              <a:buNone/>
              <a:defRPr sz="2134">
                <a:solidFill>
                  <a:schemeClr val="bg1"/>
                </a:solidFill>
              </a:defRPr>
            </a:lvl2pPr>
            <a:lvl3pPr marL="846625" indent="0">
              <a:buNone/>
              <a:defRPr sz="2134">
                <a:solidFill>
                  <a:schemeClr val="bg1"/>
                </a:solidFill>
              </a:defRPr>
            </a:lvl3pPr>
            <a:lvl4pPr marL="1145059" indent="0">
              <a:buNone/>
              <a:defRPr sz="2134">
                <a:solidFill>
                  <a:schemeClr val="bg1"/>
                </a:solidFill>
              </a:defRPr>
            </a:lvl4pPr>
            <a:lvl5pPr marL="2438279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3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11" indent="0">
              <a:buNone/>
              <a:defRPr sz="2134">
                <a:solidFill>
                  <a:schemeClr val="bg1"/>
                </a:solidFill>
              </a:defRPr>
            </a:lvl2pPr>
            <a:lvl3pPr marL="846625" indent="0">
              <a:buNone/>
              <a:defRPr sz="2134">
                <a:solidFill>
                  <a:schemeClr val="bg1"/>
                </a:solidFill>
              </a:defRPr>
            </a:lvl3pPr>
            <a:lvl4pPr marL="1145059" indent="0">
              <a:buNone/>
              <a:defRPr sz="2134">
                <a:solidFill>
                  <a:schemeClr val="bg1"/>
                </a:solidFill>
              </a:defRPr>
            </a:lvl4pPr>
            <a:lvl5pPr marL="2438279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4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0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64A3BC-4588-0141-9E0C-0583BCBD26DF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727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1" y="2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236624"/>
            <a:ext cx="1412266" cy="387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636B29-E45E-3344-86C8-EB4250C6DF2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171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5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CEA8-317D-5841-A5D2-D2063E540E1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547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D47FE74-0BF5-364C-9101-1552F245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BF5CB6-A830-574D-BEB1-E69B0F47A7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F2CCFA-D1EC-5A43-A99A-45A01A86D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0" cy="387552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58A1DA-7C58-9941-9702-3A27795C8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AC21-747C-A74C-9CFC-51ECE0AD395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600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0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4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70" indent="0">
              <a:buNone/>
              <a:defRPr sz="2666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4" b="1"/>
            </a:lvl4pPr>
            <a:lvl5pPr marL="2438279" indent="0">
              <a:buNone/>
              <a:defRPr sz="2134" b="1"/>
            </a:lvl5pPr>
            <a:lvl6pPr marL="3047848" indent="0">
              <a:buNone/>
              <a:defRPr sz="2134" b="1"/>
            </a:lvl6pPr>
            <a:lvl7pPr marL="3657418" indent="0">
              <a:buNone/>
              <a:defRPr sz="2134" b="1"/>
            </a:lvl7pPr>
            <a:lvl8pPr marL="4266986" indent="0">
              <a:buNone/>
              <a:defRPr sz="2134" b="1"/>
            </a:lvl8pPr>
            <a:lvl9pPr marL="4876556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75E5-9B36-064C-BD19-A43595CA7CE3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8825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B8661-75D0-BF4F-B66A-3B41BE63B74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63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AC82-E6AB-FA44-A043-41C8D0349E6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03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7"/>
            <a:ext cx="8839200" cy="6430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2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87114F-DEAA-074D-90B9-8E2C8EA4AE0D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9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6098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4" y="1814624"/>
            <a:ext cx="11368845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8" indent="-23282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702" indent="-230712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205" indent="-23282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85">
              <a:spcBef>
                <a:spcPts val="41"/>
              </a:spcBef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85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9B772-7E71-FA4F-9E72-FB3C01A4832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770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7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B0ED52-3B5E-9848-B86B-B7D8AC0D1FD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1389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7" y="1814624"/>
            <a:ext cx="5386917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92DB5-EC7D-024A-81C4-7AEDC40E18D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1378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5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0D041-C97F-6946-8D93-C9F28A5F900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1540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245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1" y="2555760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1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61A48-D93E-AD48-ACBF-8E350973093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509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0" y="0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075CE-4AA8-2549-A300-6D36E285BCD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19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4A3-FA59-604A-8AF8-61903D5FCF5E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2466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3331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512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ACCA-F839-4AB8-A1A8-BFCFA6049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5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4F735-645A-43B0-846E-DE4B78FCE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F2816-318C-4482-A41F-182AB626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0CC6A-5EA8-4D21-AE52-4CB7A421DA7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EF56-FBC3-40A1-9DDE-FF3D1740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8AEC-5713-4266-B7DB-0D7B7BC7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CCC6-7C99-4A60-BC34-CF95039F1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646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5" y="4132101"/>
            <a:ext cx="11170072" cy="11748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7" y="515771"/>
            <a:ext cx="1645636" cy="4515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7" y="1141466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9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985A-0E2B-D147-A6B2-64A42B53C78B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85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5" y="4132104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6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5" y="1254798"/>
            <a:ext cx="11170072" cy="287721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7" y="515771"/>
            <a:ext cx="1645636" cy="451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7" y="1141466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1"/>
            <a:ext cx="1891862" cy="1269850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9" y="5306928"/>
            <a:ext cx="510964" cy="592546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45E4A-781E-2547-B561-A2CCD6A6AB02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9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6"/>
            <a:ext cx="8839200" cy="643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3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4BDEE-0A37-424A-AF5F-F7E7EEA414C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95DA09-B784-4E24-A62A-1D0B7AA82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861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7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7A164A-90D2-4C71-A348-EC629DEFC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820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14627"/>
            <a:ext cx="11368846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13" indent="-232813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663" indent="-230698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130" indent="-232813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4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46">
              <a:spcBef>
                <a:spcPts val="41"/>
              </a:spcBef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46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E0687-B76F-F945-9659-9566E796CF7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61CAED-2E89-4915-89DA-9BB4622E66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014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71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16B2F-4B82-1E47-80FF-11B3DC572195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F931DB-02CA-4FF4-B3F0-5AD678A4D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521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6" y="1814623"/>
            <a:ext cx="5386918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3" y="1814623"/>
            <a:ext cx="5386918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B5329-9842-8C41-A01E-F5C2974322E9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F962A8-1AA5-4497-9DA2-652393AE65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29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7" y="1814623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5" y="608448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AA64E-1FE4-DC40-8B34-C98CECB865C0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11BC2B-5AD9-4B48-8BFE-FEA12E59C8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287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49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8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4" y="2555763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93" indent="0">
              <a:buNone/>
              <a:defRPr sz="2134">
                <a:solidFill>
                  <a:schemeClr val="bg1"/>
                </a:solidFill>
              </a:defRPr>
            </a:lvl2pPr>
            <a:lvl3pPr marL="846592" indent="0">
              <a:buNone/>
              <a:defRPr sz="2134">
                <a:solidFill>
                  <a:schemeClr val="bg1"/>
                </a:solidFill>
              </a:defRPr>
            </a:lvl3pPr>
            <a:lvl4pPr marL="1145014" indent="0">
              <a:buNone/>
              <a:defRPr sz="2134">
                <a:solidFill>
                  <a:schemeClr val="bg1"/>
                </a:solidFill>
              </a:defRPr>
            </a:lvl4pPr>
            <a:lvl5pPr marL="2438182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4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393" indent="0">
              <a:buNone/>
              <a:defRPr sz="2134">
                <a:solidFill>
                  <a:schemeClr val="bg1"/>
                </a:solidFill>
              </a:defRPr>
            </a:lvl2pPr>
            <a:lvl3pPr marL="846592" indent="0">
              <a:buNone/>
              <a:defRPr sz="2134">
                <a:solidFill>
                  <a:schemeClr val="bg1"/>
                </a:solidFill>
              </a:defRPr>
            </a:lvl3pPr>
            <a:lvl4pPr marL="1145014" indent="0">
              <a:buNone/>
              <a:defRPr sz="2134">
                <a:solidFill>
                  <a:schemeClr val="bg1"/>
                </a:solidFill>
              </a:defRPr>
            </a:lvl4pPr>
            <a:lvl5pPr marL="2438182" indent="0">
              <a:buNone/>
              <a:defRPr sz="2134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4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4A3BC-4588-0141-9E0C-0583BCBD26DF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1874F4-E6F7-4C31-928A-91C29C8A6B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80904" y="6364121"/>
            <a:ext cx="1179576" cy="3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802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2" y="3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36B29-E45E-3344-86C8-EB4250C6DF2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30AD97-393F-4D1D-83C8-F75F66A2EE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853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9" y="1800450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5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CEA8-317D-5841-A5D2-D2063E540E17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44FFA1-32F9-4943-87A0-FE958E30A0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953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D47FE74-0BF5-364C-9101-1552F245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BF5CB6-A830-574D-BEB1-E69B0F47A7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58A1DA-7C58-9941-9702-3A27795C8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AC21-747C-A74C-9CFC-51ECE0AD3957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4F31451-E45F-4EB7-BFD4-CE2B16C4B8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485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6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9" y="836430"/>
            <a:ext cx="11368847" cy="6413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31" indent="0">
              <a:buNone/>
              <a:defRPr sz="2667" b="1"/>
            </a:lvl2pPr>
            <a:lvl3pPr marL="1219060" indent="0">
              <a:buNone/>
              <a:defRPr sz="2400" b="1"/>
            </a:lvl3pPr>
            <a:lvl4pPr marL="1828590" indent="0">
              <a:buNone/>
              <a:defRPr sz="2135" b="1"/>
            </a:lvl4pPr>
            <a:lvl5pPr marL="2438122" indent="0">
              <a:buNone/>
              <a:defRPr sz="2135" b="1"/>
            </a:lvl5pPr>
            <a:lvl6pPr marL="3047650" indent="0">
              <a:buNone/>
              <a:defRPr sz="2135" b="1"/>
            </a:lvl6pPr>
            <a:lvl7pPr marL="3657179" indent="0">
              <a:buNone/>
              <a:defRPr sz="2135" b="1"/>
            </a:lvl7pPr>
            <a:lvl8pPr marL="4266708" indent="0">
              <a:buNone/>
              <a:defRPr sz="2135" b="1"/>
            </a:lvl8pPr>
            <a:lvl9pPr marL="4876239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9" y="6021919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75E5-9B36-064C-BD19-A43595CA7CE3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4E5593-85DC-4D4F-B3F0-ECBAAB6F9E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105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7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8CEA8-317D-5841-A5D2-D2063E540E1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44FFA1-32F9-4943-87A0-FE958E30A0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818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blu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D47FE74-0BF5-364C-9101-1552F245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BF5CB6-A830-574D-BEB1-E69B0F47A7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58A1DA-7C58-9941-9702-3A27795C8C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CAC21-747C-A74C-9CFC-51ECE0AD3957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4F31451-E45F-4EB7-BFD4-CE2B16C4B8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9133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5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6413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75E5-9B36-064C-BD19-A43595CA7CE3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4E5593-85DC-4D4F-B3F0-ECBAAB6F9E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0904" y="6364121"/>
            <a:ext cx="1179576" cy="3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22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70" y="2567520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70" y="3912183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2A761-FA98-694A-A260-F048853BF211}"/>
              </a:ext>
            </a:extLst>
          </p:cNvPr>
          <p:cNvSpPr/>
          <p:nvPr userDrawn="1"/>
        </p:nvSpPr>
        <p:spPr>
          <a:xfrm>
            <a:off x="243843" y="6249121"/>
            <a:ext cx="1171786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2022 Definity Insurance Company. Intellectual property belongs to Definity Insurance Company and/or its affiliates. Definity or Definity Insurance includes the following companies: </a:t>
            </a:r>
          </a:p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Definity Insurance Company, Petline Insurance Company, Sonnet Insurance Company and Family Insurance Solutions Inc.  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05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70" y="2567520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70" y="3912183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6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6B56CA-2349-9E4C-AC50-A1A77C811CF7}"/>
              </a:ext>
            </a:extLst>
          </p:cNvPr>
          <p:cNvSpPr/>
          <p:nvPr userDrawn="1"/>
        </p:nvSpPr>
        <p:spPr>
          <a:xfrm>
            <a:off x="243843" y="6249121"/>
            <a:ext cx="1171786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 2022 Definity Insurance Company. Intellectual property belongs to Definity Insurance Company and/or its affiliates. Definity or Definity Insurance includes the following companies: </a:t>
            </a:r>
          </a:p>
          <a:p>
            <a:pPr algn="ctr"/>
            <a:r>
              <a:rPr lang="en-US" sz="1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Definity Insurance Company, Petline Insurance Company, Sonnet Insurance Company and Family Insurance Solutions Inc.  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89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ACCA-F839-4AB8-A1A8-BFCFA6049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5"/>
            <a:ext cx="91440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4F735-645A-43B0-846E-DE4B78FCE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F2816-318C-4482-A41F-182AB626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EF56-FBC3-40A1-9DDE-FF3D1740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8AEC-5713-4266-B7DB-0D7B7BC7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649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 O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9" y="836434"/>
            <a:ext cx="11261931" cy="56524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 dirty="0">
                <a:solidFill>
                  <a:srgbClr val="003358"/>
                </a:solidFill>
                <a:latin typeface="Arial" panose="020B0604020202020204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6" y="395287"/>
            <a:ext cx="11261934" cy="44114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kumimoji="0" lang="en-US" sz="2800" u="none" strike="noStrike" spc="0" normalizeH="0" dirty="0">
                <a:ln>
                  <a:noFill/>
                </a:ln>
                <a:solidFill>
                  <a:srgbClr val="007DB3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8D8F3-15E1-274E-8517-6A3D625D7213}"/>
              </a:ext>
            </a:extLst>
          </p:cNvPr>
          <p:cNvSpPr txBox="1"/>
          <p:nvPr userDrawn="1"/>
        </p:nvSpPr>
        <p:spPr>
          <a:xfrm>
            <a:off x="11008247" y="1"/>
            <a:ext cx="11837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sz="800">
                <a:solidFill>
                  <a:schemeClr val="tx2"/>
                </a:solidFill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795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7" y="1800449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4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7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46" indent="0">
              <a:buNone/>
              <a:defRPr sz="2666" b="1"/>
            </a:lvl2pPr>
            <a:lvl3pPr marL="1219091" indent="0">
              <a:buNone/>
              <a:defRPr sz="2400" b="1"/>
            </a:lvl3pPr>
            <a:lvl4pPr marL="1828636" indent="0">
              <a:buNone/>
              <a:defRPr sz="2134" b="1"/>
            </a:lvl4pPr>
            <a:lvl5pPr marL="2438182" indent="0">
              <a:buNone/>
              <a:defRPr sz="2134" b="1"/>
            </a:lvl5pPr>
            <a:lvl6pPr marL="3047726" indent="0">
              <a:buNone/>
              <a:defRPr sz="2134" b="1"/>
            </a:lvl6pPr>
            <a:lvl7pPr marL="3657271" indent="0">
              <a:buNone/>
              <a:defRPr sz="2134" b="1"/>
            </a:lvl7pPr>
            <a:lvl8pPr marL="4266815" indent="0">
              <a:buNone/>
              <a:defRPr sz="2134" b="1"/>
            </a:lvl8pPr>
            <a:lvl9pPr marL="4876361" indent="0">
              <a:buNone/>
              <a:defRPr sz="2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8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467543" y="0"/>
            <a:ext cx="1724458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7A164A-90D2-4C71-A348-EC629DEFC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3" y="6346537"/>
            <a:ext cx="1176888" cy="3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325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B8661-75D0-BF4F-B66A-3B41BE63B74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70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AC82-E6AB-FA44-A043-41C8D0349E6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79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7"/>
            <a:ext cx="8839200" cy="6430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2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0537DE-361B-432B-BCEC-8BCFC8C502C0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42016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0846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4" y="1814624"/>
            <a:ext cx="11368845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8" indent="-23282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702" indent="-230712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205" indent="-23282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85">
              <a:spcBef>
                <a:spcPts val="41"/>
              </a:spcBef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85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AD749-16FD-40C6-8130-2810ED9DFB0F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29349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7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39E58-D3B6-43D3-9B14-AD15DD6A91B3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977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7" y="1814624"/>
            <a:ext cx="5386917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92DB5-EC7D-024A-81C4-7AEDC40E18D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0437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5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F9473A-B297-DD66-09DB-927BBC9753F0}"/>
              </a:ext>
            </a:extLst>
          </p:cNvPr>
          <p:cNvSpPr txBox="1"/>
          <p:nvPr userDrawn="1"/>
        </p:nvSpPr>
        <p:spPr>
          <a:xfrm>
            <a:off x="10467543" y="0"/>
            <a:ext cx="17244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INTERNAL USE ONLY  </a:t>
            </a:r>
            <a:r>
              <a:rPr lang="en-US" sz="800">
                <a:solidFill>
                  <a:schemeClr val="tx2"/>
                </a:solidFill>
              </a:rPr>
              <a:t>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8149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5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1" y="2555760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1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61A48-D93E-AD48-ACBF-8E350973093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22123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0" y="0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075CE-4AA8-2549-A300-6D36E285BCD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7935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DC5DB-3118-2344-B34B-02E7ABBBE6B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1017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4A3-FA59-604A-8AF8-61903D5FCF5E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9031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2558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2778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M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1748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F536E9C-3298-444F-9CD3-C7887F488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187A82-276C-5C42-A57D-AB76390758EE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BC8AC-B5E6-6649-8047-ED45AE5B307A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2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F2559-5D77-CA42-84F8-F4A65B9FB159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B8661-75D0-BF4F-B66A-3B41BE63B74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49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BE44429-E125-FD48-B307-C8F635B52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964" y="4132100"/>
            <a:ext cx="11170072" cy="17031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F099FA-C3C5-5747-87DC-6B9F04B45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254799"/>
            <a:ext cx="11170072" cy="28772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400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7" name="Picture 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CC94E5-6F89-0A40-95FE-5CAF9D7C06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74" y="515772"/>
            <a:ext cx="1645636" cy="4515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8E38DC-713C-E54E-BAEA-DF304D022F53}"/>
              </a:ext>
            </a:extLst>
          </p:cNvPr>
          <p:cNvSpPr/>
          <p:nvPr userDrawn="1"/>
        </p:nvSpPr>
        <p:spPr>
          <a:xfrm>
            <a:off x="665174" y="1141463"/>
            <a:ext cx="1645636" cy="1558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99DD17-3F60-F44E-8CC2-A7B6112A776B}"/>
              </a:ext>
            </a:extLst>
          </p:cNvPr>
          <p:cNvSpPr/>
          <p:nvPr userDrawn="1"/>
        </p:nvSpPr>
        <p:spPr>
          <a:xfrm>
            <a:off x="10300138" y="5588152"/>
            <a:ext cx="1891863" cy="1269849"/>
          </a:xfrm>
          <a:prstGeom prst="rect">
            <a:avLst/>
          </a:prstGeom>
          <a:solidFill>
            <a:schemeClr val="accent1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E3CF-0A09-244E-97B2-2CC04B5E05BA}"/>
              </a:ext>
            </a:extLst>
          </p:cNvPr>
          <p:cNvSpPr/>
          <p:nvPr userDrawn="1"/>
        </p:nvSpPr>
        <p:spPr>
          <a:xfrm>
            <a:off x="11681037" y="5306929"/>
            <a:ext cx="510964" cy="592545"/>
          </a:xfrm>
          <a:prstGeom prst="rect">
            <a:avLst/>
          </a:prstGeom>
          <a:solidFill>
            <a:schemeClr val="bg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BAC82-E6AB-FA44-A043-41C8D0349E6B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9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o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1D6D8D54-1243-9E40-AD27-8A6A9C29B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4538547"/>
            <a:ext cx="8839200" cy="6430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852B2AA-608D-444B-8C06-31AA4AAD24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0964" y="1733552"/>
            <a:ext cx="9280736" cy="2588960"/>
          </a:xfrm>
          <a:prstGeom prst="rect">
            <a:avLst/>
          </a:prstGeom>
          <a:solidFill>
            <a:schemeClr val="accent1"/>
          </a:solidFill>
        </p:spPr>
        <p:txBody>
          <a:bodyPr lIns="457200" anchor="ctr">
            <a:noAutofit/>
          </a:bodyPr>
          <a:lstStyle>
            <a:lvl1pPr algn="l">
              <a:lnSpc>
                <a:spcPct val="80000"/>
              </a:lnSpc>
              <a:defRPr sz="5333" b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5EE06-F696-3942-8E0F-353CA77A9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0537DE-361B-432B-BCEC-8BCFC8C502C0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79358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A2D06-52C7-AA4D-A409-4E02CF2E3C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E675885-A4C6-D54E-BE73-CE97C7B1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EBCAC59-8339-0B4C-A751-69CCB78EC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5B1E9-155A-5B46-8B20-21551664F4B4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8003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4" y="1814624"/>
            <a:ext cx="11368845" cy="4206947"/>
          </a:xfrm>
          <a:prstGeom prst="rect">
            <a:avLst/>
          </a:prstGeom>
        </p:spPr>
        <p:txBody>
          <a:bodyPr>
            <a:normAutofit/>
          </a:bodyPr>
          <a:lstStyle>
            <a:lvl1pPr marL="232828" indent="-232828">
              <a:spcBef>
                <a:spcPts val="41"/>
              </a:spcBef>
              <a:buClr>
                <a:srgbClr val="007DB3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11702" indent="-230712">
              <a:spcBef>
                <a:spcPts val="41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7205" indent="-232828">
              <a:spcBef>
                <a:spcPts val="41"/>
              </a:spcBef>
              <a:buFont typeface="Arial" panose="020B0604020202020204" pitchFamily="34" charset="0"/>
              <a:buChar char="•"/>
              <a:tabLst/>
              <a:defRPr sz="2133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indent="-609585">
              <a:spcBef>
                <a:spcPts val="41"/>
              </a:spcBef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609585">
              <a:spcBef>
                <a:spcPts val="41"/>
              </a:spcBef>
              <a:defRPr sz="24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E0200FB-8662-FB42-8B76-7A6BBD6CBBC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A13BB-83C7-F24A-BDEA-A8D0C583F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D296A31-A7F7-D84E-B2E6-9E920F91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B0C24-5E7B-0B43-A5E4-B22F6A4BA5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AD749-16FD-40C6-8130-2810ED9DFB0F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9293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6510867" y="1820592"/>
            <a:ext cx="536894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F0855D-D27E-D044-9507-0386DFB277A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5D503F-226A-E046-85A4-0B7066EB70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570FEE-E9EA-444C-9557-98BDCCA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B9DCEF9-A06A-6546-B194-1033E64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39E58-D3B6-43D3-9B14-AD15DD6A91B3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61210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ontent with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2"/>
          <p:cNvSpPr>
            <a:spLocks noGrp="1"/>
          </p:cNvSpPr>
          <p:nvPr>
            <p:ph type="chart" sz="quarter" idx="13"/>
          </p:nvPr>
        </p:nvSpPr>
        <p:spPr>
          <a:xfrm>
            <a:off x="6510867" y="1814624"/>
            <a:ext cx="5386917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43F201-1A36-A846-B8E1-9BDB2456AB9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D33AAB0-4379-6548-B197-7B4EE7A4E1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0964" y="1814624"/>
            <a:ext cx="5386917" cy="42009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F6584-46FC-E844-9A19-EB5D77C70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B4BA434-82F6-CA4D-A903-D2A7F4D1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9A73125-8B3B-884E-B775-5CCB4F8AA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792DB5-EC7D-024A-81C4-7AEDC40E18D1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46405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2"/>
          <p:cNvSpPr>
            <a:spLocks noGrp="1"/>
          </p:cNvSpPr>
          <p:nvPr>
            <p:ph type="tbl" sz="quarter" idx="11"/>
          </p:nvPr>
        </p:nvSpPr>
        <p:spPr>
          <a:xfrm>
            <a:off x="674145" y="1814624"/>
            <a:ext cx="10901083" cy="4200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E92BF83-4408-3544-9CE2-F49CC1E3C3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AB2067-0E17-6145-A49C-41F7D4BA6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764A3-2202-3E4B-915A-C8744FD5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A519D7-9E24-3746-AE1B-E258D1DF60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6F3C2-F2E3-4CA0-9642-2D3F6022370A}"/>
              </a:ext>
            </a:extLst>
          </p:cNvPr>
          <p:cNvSpPr txBox="1"/>
          <p:nvPr userDrawn="1"/>
        </p:nvSpPr>
        <p:spPr>
          <a:xfrm>
            <a:off x="10991273" y="0"/>
            <a:ext cx="1200727" cy="203200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0175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no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73D82D-49C0-9248-AC68-5DD5FFEC5F89}"/>
              </a:ext>
            </a:extLst>
          </p:cNvPr>
          <p:cNvSpPr/>
          <p:nvPr userDrawn="1"/>
        </p:nvSpPr>
        <p:spPr>
          <a:xfrm>
            <a:off x="0" y="1693250"/>
            <a:ext cx="2129536" cy="1395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Shape, icon&#10;&#10;Description automatically generated">
            <a:extLst>
              <a:ext uri="{FF2B5EF4-FFF2-40B4-BE49-F238E27FC236}">
                <a16:creationId xmlns:a16="http://schemas.microsoft.com/office/drawing/2014/main" id="{7D12A783-6C63-A94B-9BB2-5546CA8B74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45" y="1296175"/>
            <a:ext cx="1342475" cy="1032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7C50F-E073-FB46-8CD2-D273CE1B3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201" y="2555760"/>
            <a:ext cx="10037233" cy="1869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Quote goes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</a:t>
            </a:r>
            <a:r>
              <a:rPr lang="en-US" err="1"/>
              <a:t>dapibus</a:t>
            </a:r>
            <a:r>
              <a:rPr lang="en-US"/>
              <a:t>,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Bibendum </a:t>
            </a:r>
            <a:r>
              <a:rPr lang="en-US" err="1"/>
              <a:t>luctus</a:t>
            </a:r>
            <a:r>
              <a:rPr lang="en-US"/>
              <a:t>,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, in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felis</a:t>
            </a:r>
            <a:r>
              <a:rPr lang="en-US"/>
              <a:t>. Sed et </a:t>
            </a:r>
            <a:r>
              <a:rPr lang="en-US" err="1"/>
              <a:t>malesuada</a:t>
            </a:r>
            <a:r>
              <a:rPr lang="en-US"/>
              <a:t> lorem. Maecenas </a:t>
            </a:r>
            <a:r>
              <a:rPr lang="en-US" err="1"/>
              <a:t>viverra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,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placarat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. Sed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lugla</a:t>
            </a:r>
            <a:r>
              <a:rPr lang="en-US"/>
              <a:t>, </a:t>
            </a:r>
            <a:r>
              <a:rPr lang="en-US" err="1"/>
              <a:t>phaetra</a:t>
            </a:r>
            <a:r>
              <a:rPr lang="en-US"/>
              <a:t> ac </a:t>
            </a:r>
            <a:r>
              <a:rPr lang="en-US" err="1"/>
              <a:t>tortor</a:t>
            </a:r>
            <a:r>
              <a:rPr lang="en-US"/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809BECD-E88D-6547-8F17-B43EE062B9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1" y="4772295"/>
            <a:ext cx="10037233" cy="73817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600" b="0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61422" indent="0">
              <a:buNone/>
              <a:defRPr sz="2133">
                <a:solidFill>
                  <a:schemeClr val="bg1"/>
                </a:solidFill>
              </a:defRPr>
            </a:lvl2pPr>
            <a:lvl3pPr marL="846646" indent="0">
              <a:buNone/>
              <a:defRPr sz="2133">
                <a:solidFill>
                  <a:schemeClr val="bg1"/>
                </a:solidFill>
              </a:defRPr>
            </a:lvl3pPr>
            <a:lvl4pPr marL="1145087" indent="0">
              <a:buNone/>
              <a:defRPr sz="2133">
                <a:solidFill>
                  <a:schemeClr val="bg1"/>
                </a:solidFill>
              </a:defRPr>
            </a:lvl4pPr>
            <a:lvl5pPr marL="2438339" indent="0">
              <a:buNone/>
              <a:defRPr sz="2133">
                <a:solidFill>
                  <a:schemeClr val="bg1"/>
                </a:solidFill>
              </a:defRPr>
            </a:lvl5pPr>
          </a:lstStyle>
          <a:p>
            <a:r>
              <a:rPr lang="en-US"/>
              <a:t>– NAME GOES HERE</a:t>
            </a:r>
          </a:p>
          <a:p>
            <a:r>
              <a:rPr lang="en-US"/>
              <a:t>	Title goes 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7D70A-BDB6-C448-96FF-EBA7C8FDD630}"/>
              </a:ext>
            </a:extLst>
          </p:cNvPr>
          <p:cNvSpPr/>
          <p:nvPr userDrawn="1"/>
        </p:nvSpPr>
        <p:spPr>
          <a:xfrm>
            <a:off x="11460480" y="4861545"/>
            <a:ext cx="731520" cy="5084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AB0BB-99A4-C941-8ED3-909603A003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161A48-D93E-AD48-ACBF-8E3509730930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69260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/Thank yo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2190" y="0"/>
            <a:ext cx="11567621" cy="6624176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49F6A-65AB-7D46-9B77-891CAA6221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4" y="6236624"/>
            <a:ext cx="1412265" cy="38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7075CE-4AA8-2549-A300-6D36E285BCD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19756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no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63" y="1800447"/>
            <a:ext cx="11368847" cy="422112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2133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10963" y="836429"/>
            <a:ext cx="11368847" cy="7183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61E85-8EB6-7841-9141-61560607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D12231-8D53-CA41-859D-48FB78CE1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DC5DB-3118-2344-B34B-02E7ABBBE6B8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3431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blue backgrou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2F3CD0-32A1-804E-A2D3-210F2FD77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6259A36-C74D-2B44-A03D-507592E9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3824"/>
            <a:ext cx="11368847" cy="8243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EF71BC-EF75-DD49-A80A-1CF56F92772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10963" y="836430"/>
            <a:ext cx="11368847" cy="64134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A6E8E7-9409-1F4E-9DC4-766EF70818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117" y="6021918"/>
            <a:ext cx="9645264" cy="503767"/>
          </a:xfrm>
        </p:spPr>
        <p:txBody>
          <a:bodyPr anchor="b">
            <a:normAutofit/>
          </a:bodyPr>
          <a:lstStyle>
            <a:lvl1pPr>
              <a:defRPr sz="8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ADE4A3-FA59-604A-8AF8-61903D5FCF5E}"/>
              </a:ext>
            </a:extLst>
          </p:cNvPr>
          <p:cNvSpPr txBox="1"/>
          <p:nvPr userDrawn="1"/>
        </p:nvSpPr>
        <p:spPr>
          <a:xfrm>
            <a:off x="11755995" y="0"/>
            <a:ext cx="436005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68033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C8E4B8-3F20-DA44-ABE5-85D08E42E6C7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4350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4283969-5420-6C40-8DCB-D5989E0DD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5667" y="2567517"/>
            <a:ext cx="3640667" cy="99906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D68AAC-D8AD-8E43-A2D6-6D3EEBCFD439}"/>
              </a:ext>
            </a:extLst>
          </p:cNvPr>
          <p:cNvSpPr/>
          <p:nvPr userDrawn="1"/>
        </p:nvSpPr>
        <p:spPr>
          <a:xfrm>
            <a:off x="4275667" y="3912180"/>
            <a:ext cx="3640667" cy="1039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9121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CCD87-5CB8-CF2B-696F-A886BD9982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2DF1AC-822C-7E40-1926-1A3214FAEAEC}"/>
              </a:ext>
            </a:extLst>
          </p:cNvPr>
          <p:cNvSpPr txBox="1">
            <a:spLocks/>
          </p:cNvSpPr>
          <p:nvPr userDrawn="1"/>
        </p:nvSpPr>
        <p:spPr>
          <a:xfrm>
            <a:off x="510964" y="1733553"/>
            <a:ext cx="8827001" cy="3200399"/>
          </a:xfrm>
          <a:prstGeom prst="rect">
            <a:avLst/>
          </a:prstGeom>
          <a:solidFill>
            <a:srgbClr val="007DB3">
              <a:alpha val="85000"/>
            </a:srgbClr>
          </a:solidFill>
        </p:spPr>
        <p:txBody>
          <a:bodyPr lIns="609600" tIns="60960" rIns="121920" bIns="6096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 spc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-1191230" algn="l" defTabSz="121917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B445D6-6069-292E-593C-BC8B8391E962}"/>
              </a:ext>
            </a:extLst>
          </p:cNvPr>
          <p:cNvSpPr/>
          <p:nvPr userDrawn="1"/>
        </p:nvSpPr>
        <p:spPr>
          <a:xfrm>
            <a:off x="1" y="2308879"/>
            <a:ext cx="742951" cy="1939271"/>
          </a:xfrm>
          <a:prstGeom prst="rect">
            <a:avLst/>
          </a:prstGeom>
          <a:solidFill>
            <a:schemeClr val="accent3">
              <a:alpha val="851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F162C0-87A5-E589-D0C3-E975BFECDA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7541" y="6236624"/>
            <a:ext cx="1412271" cy="387552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932F27-6F67-246B-D666-E2A0225EBA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2950" y="1733551"/>
            <a:ext cx="8594725" cy="3200399"/>
          </a:xfrm>
          <a:noFill/>
        </p:spPr>
        <p:txBody>
          <a:bodyPr lIns="609600" tIns="60960" rIns="121920" bIns="60960" anchor="ctr">
            <a:noAutofit/>
          </a:bodyPr>
          <a:lstStyle>
            <a:lvl1pPr>
              <a:defRPr lang="en-US" sz="4400" b="1" cap="all" spc="0" smtClean="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  <a:lvl2pPr>
              <a:defRPr lang="en-US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R="0" lvl="0" indent="-1191230" fontAlgn="auto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</a:pPr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0A03A7-3820-934D-8068-AADD9F7E604B}"/>
              </a:ext>
            </a:extLst>
          </p:cNvPr>
          <p:cNvSpPr txBox="1"/>
          <p:nvPr userDrawn="1"/>
        </p:nvSpPr>
        <p:spPr>
          <a:xfrm>
            <a:off x="11008247" y="1"/>
            <a:ext cx="1183759" cy="233824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sz="800">
                <a:solidFill>
                  <a:schemeClr val="tx2"/>
                </a:solidFill>
              </a:rPr>
              <a:t>RESTRICTED  |  </a:t>
            </a:r>
            <a:fld id="{26F33A98-74CF-7442-A852-2B87EB52B5A5}" type="slidenum">
              <a:rPr lang="en-US" sz="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86885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2020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7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40688136-0286-184A-B7B0-1BA882EA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7091"/>
            <a:ext cx="11368847" cy="824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8050D7-13D3-C44B-A29A-C8BE7E78E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962" y="1797997"/>
            <a:ext cx="10842839" cy="4221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8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3733" b="1" i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None/>
        <a:tabLst/>
        <a:defRPr sz="2133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61422" indent="0" algn="l" defTabSz="121917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46646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45087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8339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40688136-0286-184A-B7B0-1BA882EA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7091"/>
            <a:ext cx="11368847" cy="824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8050D7-13D3-C44B-A29A-C8BE7E78E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962" y="1797997"/>
            <a:ext cx="10842839" cy="4221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3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3733" b="1" i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None/>
        <a:tabLst/>
        <a:defRPr sz="2133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61422" indent="0" algn="l" defTabSz="121917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46646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45087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tabLst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8339" indent="0" algn="l" defTabSz="1219170" rtl="0" eaLnBrk="1" latinLnBrk="0" hangingPunct="1">
        <a:spcBef>
          <a:spcPct val="20000"/>
        </a:spcBef>
        <a:buFont typeface="Arial" panose="020B0604020202020204" pitchFamily="34" charset="0"/>
        <a:buNone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027E684-F460-149E-66EE-91A0A1579A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E15B54-9F73-A697-58FA-A11F2FE42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829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3940-9704-8AD4-E963-CE802E8CC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435718-C0CF-DD53-8241-50741D80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62" y="237091"/>
            <a:ext cx="11985838" cy="8243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866CC2-5D52-F7A2-3D42-17037E87BB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0962" y="1061427"/>
            <a:ext cx="11368847" cy="1061427"/>
          </a:xfr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549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301301-9035-88C3-DDF0-84258D1FD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246684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AI-AUGMENTED SDLC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 </a:t>
            </a:r>
            <a:r>
              <a:rPr b="1"/>
              <a:t>VS Code as Home Base</a:t>
            </a:r>
            <a:r>
              <a:t/>
            </a:r>
          </a:p>
          <a:p>
            <a:pPr/>
            <a:r>
              <a:t>2.  </a:t>
            </a:r>
            <a:r>
              <a:rPr b="1"/>
              <a:t>Documentation as Code</a:t>
            </a:r>
            <a:r>
              <a:t/>
            </a:r>
          </a:p>
          <a:p>
            <a:pPr/>
            <a:r>
              <a:t>3.  </a:t>
            </a:r>
            <a:r>
              <a:rPr b="1"/>
              <a:t>Diagrams as Code</a:t>
            </a:r>
            <a:r>
              <a:t/>
            </a:r>
          </a:p>
          <a:p>
            <a:pPr/>
            <a:r>
              <a:t>4.  </a:t>
            </a:r>
            <a:r>
              <a:rPr b="1"/>
              <a:t>Agent-Generated Artifacts</a:t>
            </a:r>
            <a:r>
              <a:t/>
            </a:r>
          </a:p>
          <a:p>
            <a:pPr/>
            <a:r>
              <a:t>5.  </a:t>
            </a:r>
            <a:r>
              <a:rPr b="1"/>
              <a:t>Git Version Control</a:t>
            </a:r>
            <a:r>
              <a:t/>
            </a:r>
          </a:p>
          <a:p>
            <a:pPr/>
            <a:r>
              <a:t>6.  </a:t>
            </a:r>
            <a:r>
              <a:rPr b="1"/>
              <a:t>AI Governance</a:t>
            </a:r>
            <a:r>
              <a:t/>
            </a:r>
          </a:p>
          <a:p>
            <a:pPr/>
            <a:r>
              <a:t>7.  </a:t>
            </a:r>
            <a:r>
              <a:rPr b="1"/>
              <a:t>AI Planning Intelligence</a:t>
            </a:r>
            <a:r>
              <a:t/>
            </a:r>
          </a:p>
          <a:p>
            <a:pPr/>
            <a:r>
              <a:t>8.  </a:t>
            </a:r>
            <a:r>
              <a:rPr b="1"/>
              <a:t>Change Management</a:t>
            </a:r>
            <a:r>
              <a:t/>
            </a:r>
          </a:p>
          <a:p>
            <a:pPr/>
            <a:r>
              <a:t>9.  </a:t>
            </a:r>
            <a:r>
              <a:rPr b="1"/>
              <a:t>Context Management</a:t>
            </a:r>
            <a:r>
              <a:t/>
            </a:r>
          </a:p>
          <a:p>
            <a:pPr/>
            <a:r>
              <a:t>10. </a:t>
            </a:r>
            <a:r>
              <a:rPr b="1"/>
              <a:t>Jira Integration</a:t>
            </a:r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The Ten Pillars of AI-Augmented SDLC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One environment for everything:</a:t>
            </a:r>
            <a:r>
              <a:t/>
            </a:r>
          </a:p>
          <a:p>
            <a:pPr/>
            <a:r>
              <a:t/>
            </a:r>
            <a:r>
              <a:rPr b="1"/>
              <a:t>Gemini Code Assist</a:t>
            </a:r>
            <a:r>
              <a:t> – AI pair programmer in the editor</a:t>
            </a:r>
          </a:p>
          <a:p>
            <a:pPr/>
            <a:r>
              <a:t/>
            </a:r>
            <a:r>
              <a:rPr b="1"/>
              <a:t>Slash Commands</a:t>
            </a:r>
            <a:r>
              <a:t> – `/prd-discover`, `/epic-split`, `/arch-design`</a:t>
            </a:r>
          </a:p>
          <a:p>
            <a:pPr/>
            <a:r>
              <a:t/>
            </a:r>
            <a:r>
              <a:rPr b="1"/>
              <a:t>Integrated Terminal</a:t>
            </a:r>
            <a:r>
              <a:t> – Gemini CLI - Run agents directly</a:t>
            </a:r>
          </a:p>
          <a:p>
            <a:pPr/>
            <a:r>
              <a:t/>
            </a:r>
            <a:r>
              <a:rPr b="1"/>
              <a:t>Git Integration</a:t>
            </a:r>
            <a:r>
              <a:t> – Commit, push, PR without leaving the IDE</a:t>
            </a:r>
          </a:p>
          <a:p>
            <a:pPr/>
            <a:r>
              <a:t/>
            </a:r>
            <a:r>
              <a:rPr b="1"/>
              <a:t>Jira Integration</a:t>
            </a:r>
            <a:r>
              <a:t> – Sync without leaving the 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1: VS Code as Home Base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Everything that describes the system lives </a:t>
            </a:r>
            <a:r>
              <a:rPr b="1"/>
              <a:t>in Git, as text</a:t>
            </a:r>
            <a:r>
              <a:t>:</a:t>
            </a:r>
          </a:p>
          <a:p>
            <a:pPr/>
            <a:r>
              <a:t/>
            </a:r>
            <a:r>
              <a:rPr b="1"/>
              <a:t>`.md` files</a:t>
            </a:r>
            <a:r>
              <a:t> – Markdown for all documentation (PRD, Epics, Stories, ADRs) perfect for AI to read and write</a:t>
            </a:r>
          </a:p>
          <a:p>
            <a:pPr/>
            <a:r>
              <a:t/>
            </a:r>
            <a:r>
              <a:rPr b="1"/>
              <a:t>Version Controlled</a:t>
            </a:r>
            <a:r>
              <a:t> – Changes tracked, reviewable in PRs, rollback possible</a:t>
            </a:r>
          </a:p>
          <a:p>
            <a:pPr/>
            <a:r>
              <a:t/>
            </a:r>
            <a:r>
              <a:rPr b="1"/>
              <a:t>`.gemini/STYLEGUIDE.md`</a:t>
            </a:r>
            <a:r>
              <a:t> – Teaches AI assistants about project conventions</a:t>
            </a:r>
          </a:p>
          <a:p>
            <a:pPr/>
            <a:r>
              <a:t/>
            </a:r>
            <a:r>
              <a:rPr b="1"/>
              <a:t>Content Generation</a:t>
            </a:r>
            <a:r>
              <a:t> – AI generated code usingPython libraries (`python-pptx`, `python-docx`, `WeasyPrint`) automate artifact creation (Slides, Reports, PDFs)</a:t>
            </a:r>
          </a:p>
          <a:p>
            <a:pPr/>
            <a:r>
              <a:t/>
            </a:r>
            <a:r>
              <a:rPr b="1"/>
              <a:t>Live Integration</a:t>
            </a:r>
            <a:r>
              <a:t> – Inject real-time data from databases (Jira, SQL) into docs using `Pandas` + `Jinja2` templates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2: Documentation as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>Visuals are </a:t>
            </a:r>
            <a:r>
              <a:rPr b="1"/>
              <a:t>generated from text</a:t>
            </a:r>
            <a:r>
              <a:t>, not drawn manually: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3: Diagrams as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Output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UX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Mermaid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User Journeys, State Diagrams, Flowcharts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Architecture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Mermaid (C4), Python Diagrams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System Structure, Infrastructure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Data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DBML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Entity-Relationship Diagrams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APIs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OpenAPI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Swagger UI, Client SDKs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>Outputs are </a:t>
            </a:r>
            <a:r>
              <a:rPr b="1"/>
              <a:t>created by AI Agents</a:t>
            </a:r>
            <a:r>
              <a:t>, not written from scratch. They are engineered by layering </a:t>
            </a:r>
            <a:r>
              <a:rPr b="1"/>
              <a:t>AI Capabilities</a:t>
            </a:r>
            <a:r>
              <a:t> (Chain-of-Thought, Few-Shot, Context) on top of deeply embedded </a:t>
            </a:r>
            <a:r>
              <a:rPr b="1"/>
              <a:t>Modern Engineering Standards</a:t>
            </a:r>
            <a:r>
              <a:t> (Vertical Slicing, C4 Models, Nielsen's Heuristics).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4: Agent-Generated Artifacts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Slash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Output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Requirements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PRD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`/prd-discover`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PRD from stakeholder input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Elaboration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Epic Decomposition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`/epic-split`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Epics using SPIDR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Elaboration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Epic Elaboration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`/epic-elaborate`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CRUD, State, Edge cases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Elaboration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Story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`/story-gen`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Jira-ready User Stories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UX Design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UX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`/ux-personas`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Personas, Wireframes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Interfaces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Interface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`/interface-discover`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Context diagram, Interface catalog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Interfaces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Interface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`/interface-spec`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Detailed interface specs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Architecture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Architecture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`/arch-design`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C4, DBML, OpenAPI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Implementation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Code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`/code-review`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Static analysis + AI review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Testing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 Plan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`/test-plan`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 plans, unit/E2E stubs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Testing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Simulation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`/simulate-persona`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Persona edge cases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Testing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Resilience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`/load-test`, `/chaos-test`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Load scripts, chaos scenarios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Testing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Interface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`/interface-test`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Contract tests from specs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Integration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Integration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`/ci-check`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Release readiness check</a:t>
                      </a:r>
                    </a:p>
                  </a:txBody>
                  <a:tcPr/>
                </a:tc>
              </a:tr>
              <a:tr h="209774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Planning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Planning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`/dep-discover`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Dependency map, health report</a:t>
                      </a:r>
                    </a:p>
                  </a:txBody>
                  <a:tcPr/>
                </a:tc>
              </a:tr>
              <a:tr h="209776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Planning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Change Mgmt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`/impact-assess`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Impact assessment report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Git is the single source of truth:</a:t>
            </a:r>
            <a:r>
              <a:t/>
            </a:r>
          </a:p>
          <a:p>
            <a:pPr/>
            <a:r>
              <a:t/>
            </a:r>
            <a:r>
              <a:rPr b="1"/>
              <a:t>All artifacts in one repo</a:t>
            </a:r>
            <a:r>
              <a:t> – Docs, diagrams, code, and tests together</a:t>
            </a:r>
          </a:p>
          <a:p>
            <a:pPr/>
            <a:r>
              <a:t/>
            </a:r>
            <a:r>
              <a:rPr b="1"/>
              <a:t>Pull Request workflow</a:t>
            </a:r>
            <a:r>
              <a:t> – Every change is reviewed (by humans AND AI)</a:t>
            </a:r>
          </a:p>
          <a:p>
            <a:pPr/>
            <a:r>
              <a:t/>
            </a:r>
            <a:r>
              <a:rPr b="1"/>
              <a:t>Full history</a:t>
            </a:r>
            <a:r>
              <a:t> – Roll back any document to any point in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5: Git Version Control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Built-in safeguards — no guidelines to memorize: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6: AI Governance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 It Does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Guardrails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Automatic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PII detection, hallucination prevention, output limits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Human-in-the-Loop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Always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VS Code</a:t>
                      </a:r>
                      <a:r>
                        <a:rPr sz="1000" b="0">
                          <a:latin typeface="Arial"/>
                        </a:rPr>
                        <a:t>: Accept/Reject diffs before file changes apply. </a:t>
                      </a:r>
                      <a:r>
                        <a:rPr b="0" sz="1000">
                          <a:latin typeface="Arial"/>
                        </a:rPr>
                        <a:t>Agents</a:t>
                      </a:r>
                      <a:r>
                        <a:rPr sz="1000" b="0">
                          <a:latin typeface="Arial"/>
                        </a:rPr>
                        <a:t>: Preview before saves.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Prompt-Ops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Automatic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Versioned prompts, testing, A/B comparison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Continuous AI monitoring of Jira backlog: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7: AI Planning Intelligence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Key Insight:</a:t>
            </a:r>
            <a:r>
              <a:t> This is Jira-centric — planning happens in Jira, not VS Code.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 It Does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Watches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Monitors Jira as items are created/edited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Discovers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Infers dependencies from story content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Suggests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Proposes missing links for human approval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Sequences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Recommends optimal build order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Alerts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Notifies when dependency health changes (🔴/🟡/🟢)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Predicts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Forecasts blockers 1-2 sprints ahead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What-If Impact Assessment before any change: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8: Change Management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Change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AI Assesses Impact 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Add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PRD, Epics, Stories, Architecture, Timeline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Modify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Which artifacts need updates? How much rework?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Remove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What becomes orphaned? What's affected downstream?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The Challenge</a:t>
            </a:r>
            <a:r>
              <a:t/>
            </a:r>
          </a:p>
          <a:p>
            <a:pPr/>
            <a:r>
              <a:t>AI models can only process a limited amount of text at once (the "context window"). Even with 1-2 million tokens, you can't fit everything—so strategic context management is essential.</a:t>
            </a:r>
          </a:p>
          <a:p>
            <a:pPr/>
            <a:r>
              <a:t/>
            </a:r>
            <a:r>
              <a:rPr b="1"/>
              <a:t>Current Model Capacities (2025)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(1/7)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Context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Equivalent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Gemini 2.0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2M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~100K lines of code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Gemini 2.0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1M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~50K lines of code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Code Assist (chat)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32K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~1,600 lines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Code Assist (autocomplete)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8K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~400 lines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The 4-Layer Context Strategy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(2/7)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Tool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1. Pre-Process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Summarize bulk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Before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NotebookLM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2. Chunk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Hierarchical index → summary →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During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Manual structuring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3. Context Drawer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Explicitly include/exclude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During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Code Assist UI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4. Caching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Reuse common context (STYLEGUIDE, glossary)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Key Strategies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(3/7)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Progressive Disclosure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Start with summaries, load details on demand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Reference Linking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Link to docs instead of embedding full content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Semantic Chunking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Add metadata (ID, summary, keywords) to chunks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Task-Specific Assembly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Match context to the type of work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Document Structure for Context Optimization</a:t>
            </a:r>
            <a:r>
              <a:t/>
            </a:r>
          </a:p>
          <a:p>
            <a:pPr/>
            <a:r>
              <a:t>```</a:t>
            </a:r>
          </a:p>
          <a:p>
            <a:pPr/>
            <a:r>
              <a:t>docs/</a:t>
            </a:r>
          </a:p>
          <a:p>
            <a:pPr/>
            <a:r>
              <a:t>├── context/                  # Pre-computed summaries</a:t>
            </a:r>
          </a:p>
          <a:p>
            <a:pPr/>
            <a:r>
              <a:t>│   ├── architecture-summary.md</a:t>
            </a:r>
          </a:p>
          <a:p>
            <a:pPr/>
            <a:r>
              <a:t>│   ├── api-index.md</a:t>
            </a:r>
          </a:p>
          <a:p>
            <a:pPr/>
            <a:r>
              <a:t>│   └── glossary.md</a:t>
            </a:r>
          </a:p>
          <a:p>
            <a:pPr/>
            <a:r>
              <a:t>├── architecture/</a:t>
            </a:r>
          </a:p>
          <a:p>
            <a:pPr/>
            <a:r>
              <a:t>│   ├── index.md              # Links to all sections</a:t>
            </a:r>
          </a:p>
          <a:p>
            <a:pPr/>
            <a:r>
              <a:t>│   ├── summaries/            # Quick reference</a:t>
            </a:r>
          </a:p>
          <a:p>
            <a:pPr/>
            <a:r>
              <a:t>│   └── details/              # Full specs</a:t>
            </a:r>
          </a:p>
          <a:p>
            <a:pPr/>
            <a:r>
              <a:t>└── .gemini/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(4/7)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>└── context-profiles/     # Work-type profiles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/>
            </a:r>
            <a:r>
              <a:rPr b="1"/>
              <a:t>Best Practices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(5/7)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Don't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Pre-summarize large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Load entire codebase every time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Create index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Embed full specs in stories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Use Context Drawer to exclude irrelevant paths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Include node_modules, dist, etc.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Cache STYLEGUIDE.md and glossary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Re-send common context every request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Chunk by meaning (semantic)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Chunk by arbitrary size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Session State Management</a:t>
            </a:r>
            <a:r>
              <a:t/>
            </a:r>
          </a:p>
          <a:p>
            <a:pPr/>
            <a:r>
              <a:t>For multi-session work (PRDs, Epics spanning days/weeks), the framework includes `SessionStateManager`: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(6/7)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Implementation:</a:t>
            </a:r>
            <a:r>
              <a:t> `standards/session_state_manager.py`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 It Tracks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Session Log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Agent used, tools run, outcomes, open questions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Entity Registry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Domain entities discovered (CRUD, states)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Resumption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Where user left off, next steps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Design Details:</a:t>
            </a:r>
            <a:r>
              <a:t> `ai-agent-recommendation-and-workflow.md`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(Getting the Best from AI) (7/7)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Bi-directional sync between Markdown artifacts and Jira tickets: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10: Jira Integration (1/2)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Traceability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Sync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Markdown docs auto-create Jira tickets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Link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PRD -&gt; Epic -&gt; Story -&gt; Test links maintained automatically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10: Jira Integration (2/2)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Jira API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When Used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Create Epic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`POST /rest/api/3/issue` (type: Epic)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After Epic decomposition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Create Story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`POST /rest/api/3/issue` (type: Story)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After story generation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Link to Parent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`POST /rest/api/3/issueLink`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Link Story → Epic → PRD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Update Status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`PUT /rest/api/3/issue/{id}/transitions`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On status change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Add Attachment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`POST /rest/api/3/issue/{id}/attachments`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Attach Gherkin, diagrams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Sync Description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`PUT /rest/api/3/issue/{id}`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Update from markdown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Read Issue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`GET /rest/api/3/issue/{id}`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Sync back to local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Search Issues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`GET /rest/api/3/search` (JQL)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Find related items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1. The 3-Layer Framework</a:t>
            </a:r>
            <a:r>
              <a:t/>
            </a:r>
          </a:p>
          <a:p>
            <a:pPr/>
            <a:r>
              <a:t>Requirements are organized into 3 interlocking layers:</a:t>
            </a:r>
          </a:p>
          <a:p>
            <a:pPr/>
            <a:r>
              <a:t/>
            </a:r>
            <a:r>
              <a:rPr b="1"/>
              <a:t>Layer 1: Strategic Vision</a:t>
            </a:r>
            <a:r>
              <a:t> - Outcomes not features</a:t>
            </a:r>
          </a:p>
          <a:p>
            <a:pPr/>
            <a:r>
              <a:t/>
            </a:r>
            <a:r>
              <a:rPr b="1"/>
              <a:t>Layer 2: Logic &amp; Design</a:t>
            </a:r>
            <a:r>
              <a:t> - Functional flows, user experience</a:t>
            </a:r>
          </a:p>
          <a:p>
            <a:pPr/>
            <a:r>
              <a:t/>
            </a:r>
            <a:r>
              <a:rPr b="1"/>
              <a:t>Layer 3: Technical Foundation</a:t>
            </a:r>
            <a:r>
              <a:t> - Non-functional requirements, data integrity</a:t>
            </a:r>
          </a:p>
          <a:p>
            <a:pPr/>
            <a:r>
              <a:t/>
            </a:r>
            <a:r>
              <a:rPr b="1"/>
              <a:t>2. The Outputs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Requirements (1/3)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3. The AI Workflow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Artifact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Format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Layer 1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Program Requirements Document (PRD)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Markdown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Layer 2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Epic Definitions &amp; User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Markdown + Gherkin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Layer 2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Wireframes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PNG/Excalidraw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Layer 3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Architecture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ADRs, Diagrams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Inputs:</a:t>
            </a:r>
            <a:r>
              <a:t> Stakeholder docs, Meeting transcripts, Brainstorming sessions</a:t>
            </a:r>
          </a:p>
          <a:p>
            <a:pPr/>
            <a:r>
              <a:t/>
            </a:r>
            <a:r>
              <a:rPr b="1"/>
              <a:t>AI Actions:</a:t>
            </a:r>
            <a:r>
              <a:t> NotebookLM synthesizes → AI extracts epics → AI generates Gherkin → AI creates wireframes</a:t>
            </a:r>
          </a:p>
          <a:p>
            <a:pPr/>
            <a:r>
              <a:t/>
            </a:r>
            <a:r>
              <a:rPr b="1"/>
              <a:t>Outputs:</a:t>
            </a:r>
            <a:r>
              <a:t> Structured PRD, Epic docs with acceptance criteria, UX flows</a:t>
            </a:r>
          </a:p>
          <a:p>
            <a:pPr/>
            <a:r>
              <a:t/>
            </a:r>
            <a:r>
              <a:rPr b="1"/>
              <a:t>4. The States of Information</a:t>
            </a:r>
            <a:r>
              <a:t/>
            </a:r>
          </a:p>
          <a:p>
            <a:pPr/>
            <a:r>
              <a:t/>
            </a:r>
            <a:r>
              <a:rPr b="1"/>
              <a:t>How AI processes information in 3 states:</a:t>
            </a:r>
            <a:r>
              <a:t/>
            </a:r>
          </a:p>
          <a:p>
            <a:pPr/>
            <a:r>
              <a:t/>
            </a:r>
            <a:r>
              <a:rPr b="1"/>
              <a:t>(Solid) Documentation – NotebookLM:</a:t>
            </a:r>
            <a:r>
              <a:t/>
            </a:r>
          </a:p>
          <a:p>
            <a:pPr/>
            <a:r>
              <a:t>Summarizes existing docs, finds conflicts, extracts topics</a:t>
            </a:r>
          </a:p>
          <a:p>
            <a:pPr/>
            <a:r>
              <a:t>Includes regulatory docs, SOPs, legacy code summaries, database schemas</a:t>
            </a:r>
          </a:p>
          <a:p>
            <a:pPr/>
            <a:r>
              <a:t/>
            </a:r>
            <a:r>
              <a:rPr b="1"/>
              <a:t>(Liquid) Conversation – AI Transcription:</a:t>
            </a:r>
            <a:r>
              <a:t/>
            </a:r>
          </a:p>
          <a:p>
            <a:pPr/>
            <a:r>
              <a:t>Meeting transcripts captured by AI</a:t>
            </a:r>
          </a:p>
          <a:p>
            <a:pPr/>
            <a:r>
              <a:t>AI synthesis of stakeholder discussions (from transcripts)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Requirements (2/3)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(Gas) Unspoken Ideas – AI Brainstorming:</a:t>
            </a:r>
            <a:r>
              <a:t/>
            </a:r>
          </a:p>
          <a:p>
            <a:pPr/>
            <a:r>
              <a:t>Edge case stress-testing, persona simulation</a:t>
            </a:r>
          </a:p>
          <a:p>
            <a:pPr/>
            <a:r>
              <a:t>Mind mapping, form-filling, BDD/Gherkin translation</a:t>
            </a:r>
          </a:p>
          <a:p>
            <a:pPr/>
            <a:r>
              <a:t>Requirements traceability automation</a:t>
            </a:r>
          </a:p>
          <a:p>
            <a:pPr/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Requirements (3/3)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1. The Framework: Vertical Slicing + SPIDR</a:t>
            </a:r>
            <a:r>
              <a:t/>
            </a:r>
          </a:p>
          <a:p>
            <a:pPr/>
            <a:r>
              <a:t/>
            </a:r>
            <a:r>
              <a:rPr b="1"/>
              <a:t>Two types of epics:</a:t>
            </a:r>
            <a:r>
              <a:t/>
            </a:r>
          </a:p>
          <a:p>
            <a:pPr/>
            <a:r>
              <a:t/>
            </a:r>
            <a:r>
              <a:rPr b="1"/>
              <a:t>Business Epics:</a:t>
            </a:r>
            <a:r>
              <a:t> User-facing capability that delivers end-to-end value (from PRD functional requirements)</a:t>
            </a:r>
          </a:p>
          <a:p>
            <a:pPr/>
            <a:r>
              <a:t/>
            </a:r>
            <a:r>
              <a:rPr b="1"/>
              <a:t>Enabler Epics:</a:t>
            </a:r>
            <a:r>
              <a:t> Infrastructure or services needed to support business epics (from Architecture Hub)</a:t>
            </a:r>
          </a:p>
          <a:p>
            <a:pPr/>
            <a:r>
              <a:t/>
            </a:r>
            <a:r>
              <a:rPr b="1"/>
              <a:t>Vertical Slicing Rule:</a:t>
            </a:r>
            <a:r>
              <a:t/>
            </a:r>
          </a:p>
          <a:p>
            <a:pPr/>
            <a:r>
              <a:t>Every epic cuts through all layers: </a:t>
            </a:r>
            <a:r>
              <a:rPr b="1"/>
              <a:t>UI → API → Database</a:t>
            </a:r>
            <a:r>
              <a:t/>
            </a:r>
          </a:p>
          <a:p>
            <a:pPr/>
            <a:r>
              <a:t/>
            </a:r>
            <a:r>
              <a:rPr b="1"/>
              <a:t>Why for AI:</a:t>
            </a:r>
            <a:r>
              <a:t> Provides complete context for code generation (user click → data persistence)</a:t>
            </a:r>
          </a:p>
          <a:p>
            <a:pPr/>
            <a:r>
              <a:t/>
            </a:r>
            <a:r>
              <a:rPr b="1"/>
              <a:t>SPIDR Splitting Patterns: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Epic Decomposition (1/3)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Quality Gate: INVEST Check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When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Example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Spike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Unknowns need research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"Evaluate payment gateways"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Path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Happy path vs. error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"Submit claim" vs. "Handle rejection"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Interface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Different platforms/complexities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"Mobile checkout" vs. "Web checkout"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Data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Different data sources/types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"Import CSV" vs. "API sync"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Rules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Complex business logic splits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"Simple quote" vs. "Multi-car quote"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>Each epic is validated: Independent, Negotiable, Valuable, Estimable, Small, Testable</a:t>
            </a:r>
          </a:p>
          <a:p>
            <a:pPr/>
            <a:r>
              <a:t/>
            </a:r>
            <a:r>
              <a:rPr b="1"/>
              <a:t>2. The Outputs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Epic Decomposition (2/3)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3. The AI Workflow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Storage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Epic Document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Scope, Success metrics, Dependencies, Story themes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`docs/epics/epic-*.md`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Epic Acceptance Criteria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Gherkin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High-level acceptance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Inside epic doc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Jira Epic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Jira 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Synced from doc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Jira (linked to PRD)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Inputs:</a:t>
            </a:r>
            <a:r>
              <a:t> PRD (functional requirements) + Architecture Hub (technical constraints)</a:t>
            </a:r>
          </a:p>
          <a:p>
            <a:pPr/>
            <a:r>
              <a:t/>
            </a:r>
            <a:r>
              <a:rPr b="1"/>
              <a:t>AI Actions:</a:t>
            </a:r>
            <a:r>
              <a:t/>
            </a:r>
          </a:p>
          <a:p>
            <a:pPr/>
            <a:r>
              <a:t>1. Analyze PRD outcomes → Propose candidate epics (Business + Enabler)</a:t>
            </a:r>
          </a:p>
          <a:p>
            <a:pPr/>
            <a:r>
              <a:t>2. Generate scope definition (In Scope / Out of Scope) for review</a:t>
            </a:r>
          </a:p>
          <a:p>
            <a:pPr/>
            <a:r>
              <a:t>3. Validate vertical slice (check epic spans UI/API/DB)</a:t>
            </a:r>
          </a:p>
          <a:p>
            <a:pPr/>
            <a:r>
              <a:t>4. Extract dependencies (flag enabler epics required first)</a:t>
            </a:r>
          </a:p>
          <a:p>
            <a:pPr/>
            <a:r>
              <a:t>5. Sync to Jira with traceability links to PRD</a:t>
            </a:r>
          </a:p>
          <a:p>
            <a:pPr/>
            <a:r>
              <a:t/>
            </a:r>
            <a:r>
              <a:rPr b="1"/>
              <a:t>Outputs:</a:t>
            </a:r>
            <a:r>
              <a:t> Epic documents with vertical scope, Jira epics with linked PRD sections</a:t>
            </a:r>
          </a:p>
          <a:p>
            <a:pPr/>
            <a:r>
              <a:t/>
            </a:r>
            <a:r>
              <a:rPr b="1"/>
              <a:t>Live Jira Sync:</a:t>
            </a:r>
            <a:r>
              <a:t> Epic docs (markdown) ↔ Jira epics (bi-directional, auto-creates traceability links)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Epic Decomposition (3/3)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1. The Framework: Epic to Stories</a:t>
            </a:r>
            <a:r>
              <a:t/>
            </a:r>
          </a:p>
          <a:p>
            <a:pPr/>
            <a:r>
              <a:t/>
            </a:r>
            <a:r>
              <a:rPr b="1"/>
              <a:t>Story Decomposition:</a:t>
            </a:r>
            <a:r>
              <a:t/>
            </a:r>
          </a:p>
          <a:p>
            <a:pPr/>
            <a:r>
              <a:t>Break epic into small vertical slices (each = 1-3 days of work)</a:t>
            </a:r>
          </a:p>
          <a:p>
            <a:pPr/>
            <a:r>
              <a:t>Each story delivers testable, end-to-end value (UI → API → DB)</a:t>
            </a:r>
          </a:p>
          <a:p>
            <a:pPr/>
            <a:r>
              <a:t/>
            </a:r>
            <a:r>
              <a:rPr b="1"/>
              <a:t>Decomposition Steps:</a:t>
            </a:r>
            <a:r>
              <a:t/>
            </a:r>
          </a:p>
          <a:p>
            <a:pPr/>
            <a:r>
              <a:t>1. Map the user journey for the epic</a:t>
            </a:r>
          </a:p>
          <a:p>
            <a:pPr/>
            <a:r>
              <a:t>2. Identify each distinct step or action</a:t>
            </a:r>
          </a:p>
          <a:p>
            <a:pPr/>
            <a:r>
              <a:t>3. Turn each step into a story</a:t>
            </a:r>
          </a:p>
          <a:p>
            <a:pPr/>
            <a:r>
              <a:t>4. Validate using INVEST criteria (Independent, Negotiable, Valuable, Estimable, Small, Testable)</a:t>
            </a:r>
          </a:p>
          <a:p>
            <a:pPr/>
            <a:r>
              <a:t/>
            </a:r>
            <a:r>
              <a:rPr b="1"/>
              <a:t>Story Planning Session:</a:t>
            </a:r>
            <a:r>
              <a:t/>
            </a:r>
          </a:p>
          <a:p>
            <a:pPr/>
            <a:r>
              <a:t>1. Define the user need in one sentence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(1/5)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>2. List business rules and constraints</a:t>
            </a:r>
          </a:p>
          <a:p>
            <a:pPr/>
            <a:r>
              <a:t>3. Create concrete examples of how it works</a:t>
            </a:r>
          </a:p>
          <a:p>
            <a:pPr/>
            <a:r>
              <a:t>4. Convert examples into Gherkin scenarios</a:t>
            </a:r>
          </a:p>
          <a:p>
            <a:pPr/>
            <a:r>
              <a:t/>
            </a:r>
            <a:r>
              <a:rPr b="1"/>
              <a:t>2. The Outputs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(2/5)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Story Structure (5 Sections):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Generated By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Story Ticket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Complete context for dev +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scaffolded / Human refined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Gherkin ACs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`.feature`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Executable specifications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from examples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E2E Test Stub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Playwright `.spec.ts`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from Gherkin + Wireframes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Implementation Checklist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Files, APIs, functions to modify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from Architecture Hub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</a:t>
            </a:r>
            <a:r>
              <a:rPr b="1"/>
              <a:t>Context Links:</a:t>
            </a:r>
            <a:r>
              <a:t> Epic, PRD, API contracts, Data models, Wireframes</a:t>
            </a:r>
          </a:p>
          <a:p>
            <a:pPr/>
            <a:r>
              <a:t>2. </a:t>
            </a:r>
            <a:r>
              <a:rPr b="1"/>
              <a:t>Gherkin ACs:</a:t>
            </a:r>
            <a:r>
              <a:t> Given/When/Then scenarios</a:t>
            </a:r>
          </a:p>
          <a:p>
            <a:pPr/>
            <a:r>
              <a:t>3. </a:t>
            </a:r>
            <a:r>
              <a:rPr b="1"/>
              <a:t>Technical Brief:</a:t>
            </a:r>
            <a:r>
              <a:t> Files to modify, API endpoints, Environment vars</a:t>
            </a:r>
          </a:p>
          <a:p>
            <a:pPr/>
            <a:r>
              <a:t>4. </a:t>
            </a:r>
            <a:r>
              <a:rPr b="1"/>
              <a:t>AI Collaboration Plan:</a:t>
            </a:r>
            <a:r>
              <a:t> Step-by-step AI generation instructions</a:t>
            </a:r>
          </a:p>
          <a:p>
            <a:pPr/>
            <a:r>
              <a:t>5. </a:t>
            </a:r>
            <a:r>
              <a:rPr b="1"/>
              <a:t>Manual Validation:</a:t>
            </a:r>
            <a:r>
              <a:t> UI aesthetics, accessibility checks</a:t>
            </a:r>
          </a:p>
          <a:p>
            <a:pPr/>
            <a:r>
              <a:t/>
            </a:r>
            <a:r>
              <a:rPr b="1"/>
              <a:t>3. The AI Workflow</a:t>
            </a:r>
            <a:r>
              <a:t/>
            </a:r>
          </a:p>
          <a:p>
            <a:pPr/>
            <a:r>
              <a:t/>
            </a:r>
            <a:r>
              <a:rPr b="1"/>
              <a:t>Inputs:</a:t>
            </a:r>
            <a:r>
              <a:t/>
            </a:r>
          </a:p>
          <a:p>
            <a:pPr/>
            <a:r>
              <a:t>Parent Epic</a:t>
            </a:r>
          </a:p>
          <a:p>
            <a:pPr/>
            <a:r>
              <a:t>Architecture Hub (API contracts, data models)</a:t>
            </a:r>
          </a:p>
          <a:p>
            <a:pPr/>
            <a:r>
              <a:t>UX Design Hub (wireframes for this story's screens)</a:t>
            </a:r>
          </a:p>
          <a:p>
            <a:pPr/>
            <a:r>
              <a:t/>
            </a:r>
            <a:r>
              <a:rPr b="1"/>
              <a:t>AI Actions:</a:t>
            </a:r>
            <a:r>
              <a:t/>
            </a:r>
          </a:p>
          <a:p>
            <a:pPr/>
            <a:r>
              <a:t>1. Generate story ticket structure with context links pre-populated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(3/5)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2. Convert business examples to Gherkin Given/When/Then scenarios</a:t>
            </a:r>
          </a:p>
          <a:p>
            <a:pPr/>
            <a:r>
              <a:t>3. Extract implementation details from Architecture Hub (API endpoints, data fields, files)</a:t>
            </a:r>
          </a:p>
          <a:p>
            <a:pPr/>
            <a:r>
              <a:t>4. Generate Playwright test stub using Gherkin + Wireframes for semantic selectors</a:t>
            </a:r>
          </a:p>
          <a:p>
            <a:pPr/>
            <a:r>
              <a:t>5. Sync to Jira with all artifacts linked</a:t>
            </a:r>
          </a:p>
          <a:p>
            <a:pPr/>
            <a:r>
              <a:t/>
            </a:r>
            <a:r>
              <a:rPr b="1"/>
              <a:t>Outputs:</a:t>
            </a:r>
            <a:r>
              <a:t/>
            </a:r>
          </a:p>
          <a:p>
            <a:pPr/>
            <a:r>
              <a:t>Jira story (ready for development)</a:t>
            </a:r>
          </a:p>
          <a:p>
            <a:pPr/>
            <a:r>
              <a:t>Gherkin `.feature` file</a:t>
            </a:r>
          </a:p>
          <a:p>
            <a:pPr/>
            <a:r>
              <a:t>Playwright test stub (before code exists)</a:t>
            </a:r>
          </a:p>
          <a:p>
            <a:pPr/>
            <a:r>
              <a:t>Implementation checklist</a:t>
            </a:r>
          </a:p>
          <a:p>
            <a:pPr/>
            <a:r>
              <a:t/>
            </a:r>
            <a:r>
              <a:rPr b="1"/>
              <a:t>Integration Points:</a:t>
            </a:r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(4/5)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From Architecture:</a:t>
            </a:r>
            <a:r>
              <a:t> API contracts → Technical brief, Data models → Test data</a:t>
            </a:r>
          </a:p>
          <a:p>
            <a:pPr/>
            <a:r>
              <a:t/>
            </a:r>
            <a:r>
              <a:rPr b="1"/>
              <a:t>From UX:</a:t>
            </a:r>
            <a:r>
              <a:t> Wireframes → Semantic selectors (`getByRole`), Flows → Test scenarios</a:t>
            </a:r>
          </a:p>
          <a:p>
            <a:pPr/>
            <a:r>
              <a:t/>
            </a:r>
            <a:r>
              <a:rPr b="1"/>
              <a:t>To Testing:</a:t>
            </a:r>
            <a:r>
              <a:t> Gherkin ACs → E2E tests (Dimension 4), Implementation plan → Unit tests (Dimension 2)</a:t>
            </a:r>
          </a:p>
          <a:p>
            <a:pPr/>
            <a:r>
              <a:t/>
            </a:r>
            <a:r>
              <a:rPr b="1"/>
              <a:t>Live Jira Sync:</a:t>
            </a:r>
            <a:r>
              <a:t> Story docs ↔ Jira tickets (bi-directional, all context links auto-populated)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User Story Elaboration (5/5)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1. The Framework: 4-Step Workflow</a:t>
            </a:r>
            <a:r>
              <a:t/>
            </a:r>
          </a:p>
          <a:p>
            <a:pPr/>
            <a:r>
              <a:t>1.  </a:t>
            </a:r>
            <a:r>
              <a:rPr b="1"/>
              <a:t>Flow Mapping:</a:t>
            </a:r>
            <a:r>
              <a:t> Complete user journey (Happy Path + 3 Sad Paths)</a:t>
            </a:r>
          </a:p>
          <a:p>
            <a:pPr/>
            <a:r>
              <a:t>2.  </a:t>
            </a:r>
            <a:r>
              <a:rPr b="1"/>
              <a:t>3-Screen Solution:</a:t>
            </a:r>
            <a:r>
              <a:t> Key screens optimized for minimum clicks</a:t>
            </a:r>
          </a:p>
          <a:p>
            <a:pPr/>
            <a:r>
              <a:t>3.  </a:t>
            </a:r>
            <a:r>
              <a:rPr b="1"/>
              <a:t>Heuristic Evaluation:</a:t>
            </a:r>
            <a:r>
              <a:t> Nielsen's 10 principles (rated 1-5)</a:t>
            </a:r>
          </a:p>
          <a:p>
            <a:pPr/>
            <a:r>
              <a:t>4.  </a:t>
            </a:r>
            <a:r>
              <a:rPr b="1"/>
              <a:t>Persona Stress-Test:</a:t>
            </a:r>
            <a:r>
              <a:t> Simulate users to find friction points</a:t>
            </a:r>
          </a:p>
          <a:p>
            <a:pPr/>
            <a:r>
              <a:t/>
            </a:r>
            <a:r>
              <a:rPr b="1"/>
              <a:t>2. The Outputs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UX Design (1/2)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3. The AI Workflow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User Journey Maps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Mermaid `journey`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Emotional arc of experience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User Flow Diagrams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Mermaid `flowchart`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Logical steps and decisions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Wireframes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PNG/Excalidraw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Visual layout (Mid-Fi)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State Diagrams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Mermaid `stateDiagram`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Screen states (Loading, Error, etc.)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Inputs:</a:t>
            </a:r>
            <a:r>
              <a:t> All Epics + PRD + Personas (loaded simultaneously)</a:t>
            </a:r>
          </a:p>
          <a:p>
            <a:pPr/>
            <a:r>
              <a:t/>
            </a:r>
            <a:r>
              <a:rPr b="1"/>
              <a:t>AI Actions:</a:t>
            </a:r>
            <a:r>
              <a:t> Maps flows → Generates wireframes → Evaluates heuristics → Tests with personas</a:t>
            </a:r>
          </a:p>
          <a:p>
            <a:pPr/>
            <a:r>
              <a:t/>
            </a:r>
            <a:r>
              <a:rPr b="1"/>
              <a:t>Outputs:</a:t>
            </a:r>
            <a:r>
              <a:t> User Journeys, Flow Diagrams, Wireframes, State Diagrams</a:t>
            </a:r>
          </a:p>
          <a:p>
            <a:pPr/>
            <a:r>
              <a:t/>
            </a:r>
            <a:r>
              <a:rPr b="1"/>
              <a:t>4. System-Wide UX (The Holistic Advantage)</a:t>
            </a:r>
            <a:r>
              <a:t/>
            </a:r>
          </a:p>
          <a:p>
            <a:pPr/>
            <a:r>
              <a:t/>
            </a:r>
            <a:r>
              <a:rPr b="1"/>
              <a:t>The AI Capability:</a:t>
            </a:r>
            <a:r>
              <a:t/>
            </a:r>
          </a:p>
          <a:p>
            <a:pPr/>
            <a:r>
              <a:t/>
            </a:r>
            <a:r>
              <a:rPr b="1"/>
              <a:t>Information Architecture:</a:t>
            </a:r>
            <a:r>
              <a:t> Consistent navigation across all features</a:t>
            </a:r>
          </a:p>
          <a:p>
            <a:pPr/>
            <a:r>
              <a:t/>
            </a:r>
            <a:r>
              <a:rPr b="1"/>
              <a:t>Cross-Epic Flows:</a:t>
            </a:r>
            <a:r>
              <a:t> Identifies connections (e.g., "Order Tracking" links to "Checkout")</a:t>
            </a:r>
          </a:p>
          <a:p>
            <a:pPr/>
            <a:r>
              <a:t/>
            </a:r>
            <a:r>
              <a:rPr b="1"/>
              <a:t>Design System:</a:t>
            </a:r>
            <a:r>
              <a:t> Reusable components used consistently</a:t>
            </a:r>
          </a:p>
          <a:p>
            <a:pPr/>
            <a:r>
              <a:t/>
            </a:r>
            <a:r>
              <a:rPr b="1"/>
              <a:t>The Result:</a:t>
            </a:r>
            <a:r>
              <a:t> Cohesive, conflict-free UX in one shot.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UX Design (2/2)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1. The Framework</a:t>
            </a:r>
            <a:r>
              <a:t/>
            </a:r>
          </a:p>
          <a:p>
            <a:pPr/>
            <a:r>
              <a:t>The Architecture Hub is a centralized, version-controlled repository of technical contracts covering:</a:t>
            </a:r>
          </a:p>
          <a:p>
            <a:pPr/>
            <a:r>
              <a:t/>
            </a:r>
            <a:r>
              <a:rPr b="1"/>
              <a:t>The WHAT:</a:t>
            </a:r>
            <a:r>
              <a:t> Diagrams (visual understanding)</a:t>
            </a:r>
          </a:p>
          <a:p>
            <a:pPr/>
            <a:r>
              <a:t/>
            </a:r>
            <a:r>
              <a:rPr b="1"/>
              <a:t>The HOW:</a:t>
            </a:r>
            <a:r>
              <a:t> API Contracts + Data Models (implementation contracts)</a:t>
            </a:r>
          </a:p>
          <a:p>
            <a:pPr/>
            <a:r>
              <a:t/>
            </a:r>
            <a:r>
              <a:rPr b="1"/>
              <a:t>The SAFE/SCALABLE:</a:t>
            </a:r>
            <a:r>
              <a:t> IAM, Governance, Resiliency (for later)</a:t>
            </a:r>
          </a:p>
          <a:p>
            <a:pPr/>
            <a:r>
              <a:t/>
            </a:r>
            <a:r>
              <a:rPr b="1"/>
              <a:t>2. The Outputs - Pillar #1: The 4 Types of Diagrams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Architecture (1/3)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3. The AI Workflow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Diagram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System Structure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C4 Model (Mermaid)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High-level logical blocks (App, API, DB)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Cloud Anatomy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Python Diagrams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Physical resources (GCP Cloud Run, Firestore)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Data Structure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DBML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Entity-Relationship Diagrams (tables, relationships)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Logic Flow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Sequence Diagrams (Mermaid)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Step-by-step service interactions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Inputs:</a:t>
            </a:r>
            <a:r>
              <a:t> PRD + Architecture requirements</a:t>
            </a:r>
          </a:p>
          <a:p>
            <a:pPr/>
            <a:r>
              <a:t/>
            </a:r>
            <a:r>
              <a:rPr b="1"/>
              <a:t>AI Actions:</a:t>
            </a:r>
            <a:r>
              <a:t> Reads prompt-hub/ARCH_001-004 → Generates diagrams</a:t>
            </a:r>
          </a:p>
          <a:p>
            <a:pPr/>
            <a:r>
              <a:t/>
            </a:r>
            <a:r>
              <a:rPr b="1"/>
              <a:t>Outputs:</a:t>
            </a:r>
            <a:r>
              <a:t> Mermaid (C4, Sequence), DBML (ERD), Python code (Infrastructure diagrams)</a:t>
            </a:r>
          </a:p>
          <a:p>
            <a:pPr/>
            <a:r>
              <a:t/>
            </a:r>
            <a:r>
              <a:rPr b="1"/>
              <a:t>4 API Contracts</a:t>
            </a:r>
            <a:r>
              <a:t/>
            </a:r>
          </a:p>
          <a:p>
            <a:pPr/>
            <a:r>
              <a:t>Machine-readable specifications: OpenAPI (REST), .proto files (gRPC)</a:t>
            </a:r>
          </a:p>
          <a:p>
            <a:pPr/>
            <a:r>
              <a:t/>
            </a:r>
            <a:r>
              <a:rPr b="1"/>
              <a:t>5: Data Models &amp; Schemas</a:t>
            </a:r>
            <a:r>
              <a:t/>
            </a:r>
          </a:p>
          <a:p>
            <a:pPr/>
            <a:r>
              <a:t>Database schemas (Cloud SQL), Firestore models, JSON schemas (message queues)</a:t>
            </a:r>
          </a:p>
          <a:p>
            <a:pPr/>
            <a:r>
              <a:t/>
            </a:r>
            <a:r>
              <a:rPr b="1"/>
              <a:t>6. The AI Workflow</a:t>
            </a:r>
            <a:r>
              <a:t/>
            </a:r>
          </a:p>
          <a:p>
            <a:pPr/>
            <a:r>
              <a:t/>
            </a:r>
            <a:r>
              <a:rPr b="1"/>
              <a:t>Inputs:</a:t>
            </a:r>
            <a:r>
              <a:t> PRD + Architecture requirements</a:t>
            </a:r>
          </a:p>
          <a:p>
            <a:pPr/>
            <a:r>
              <a:t/>
            </a:r>
            <a:r>
              <a:rPr b="1"/>
              <a:t>AI Actions:</a:t>
            </a:r>
            <a:r>
              <a:t> Uses prompt-hub/ARCH_002-003 → Generates contracts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Architecture (2/3)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Outputs:</a:t>
            </a:r>
            <a:r>
              <a:t> OpenAPI YAML files, DBML schemas, JSON Schema definitions</a:t>
            </a:r>
          </a:p>
          <a:p>
            <a:pPr/>
            <a:r>
              <a:t>---</a:t>
            </a:r>
          </a:p>
          <a:p>
            <a:pPr/>
            <a:r>
              <a:t/>
            </a:r>
            <a:r>
              <a:rPr b="1"/>
              <a:t>Comprehensive Base:</a:t>
            </a:r>
            <a:r>
              <a:t/>
            </a:r>
          </a:p>
          <a:p>
            <a:pPr/>
            <a:r>
              <a:t>The </a:t>
            </a:r>
            <a:r>
              <a:rPr b="1"/>
              <a:t>WHAT</a:t>
            </a:r>
            <a:r>
              <a:t> (Diagrams)</a:t>
            </a:r>
          </a:p>
          <a:p>
            <a:pPr/>
            <a:r>
              <a:t>The </a:t>
            </a:r>
            <a:r>
              <a:rPr b="1"/>
              <a:t>HOW</a:t>
            </a:r>
            <a:r>
              <a:t> (API &amp; Data)</a:t>
            </a:r>
          </a:p>
          <a:p>
            <a:pPr/>
            <a:r>
              <a:t>The </a:t>
            </a:r>
            <a:r>
              <a:rPr b="1"/>
              <a:t>SAFE/SCALABLE</a:t>
            </a:r>
            <a:r>
              <a:t> (IAM, Governance, Resiliency) - *for later*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Architecture (3/3)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AI Discovers, Documents, and Tests Interfaces</a:t>
            </a:r>
            <a:r>
              <a:t/>
            </a:r>
          </a:p>
          <a:p>
            <a:pPr/>
            <a:r>
              <a:t>All system connections must be discovered, documented, tested, and tracked.</a:t>
            </a:r>
          </a:p>
          <a:p>
            <a:pPr/>
            <a:r>
              <a:t/>
            </a:r>
            <a:r>
              <a:rPr b="1"/>
              <a:t>The 4 Layers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Interfaces (1/3)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AI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Output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1. Context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Visual map of ALL connections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PRD/Architecture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`/interface-discover`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C4 Context Diagram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2. Catalog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Master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Epic Decomposition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`/interface-discover`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Interface Catalog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3. Specification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Detailed per-interface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Story/Architecture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`/interface-spec`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INT-*.md specs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4. Testing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Contract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`/interface-test`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Pact/pandera tests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Interface Types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Interfaces (2/3)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AI Workflow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Protocol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API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In/Out/Both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REST, gRPC, SOAP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HTTPS, HTTP/2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File - Inbound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We receive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SFTP pickup, S3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SFTP, S3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File - Outbound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We send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SFTP push, S3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SFTP, S3, FTP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Event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Publish/Subscribe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Pub/Sub, Kafka, webhooks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Various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🤖 </a:t>
            </a:r>
            <a:r>
              <a:rPr b="1"/>
              <a:t>Discover:</a:t>
            </a:r>
            <a:r>
              <a:t> Parse PRD/code → Generate Context Diagram + Catalog</a:t>
            </a:r>
          </a:p>
          <a:p>
            <a:pPr/>
            <a:r>
              <a:t>2. 🤖 </a:t>
            </a:r>
            <a:r>
              <a:rPr b="1"/>
              <a:t>Specify:</a:t>
            </a:r>
            <a:r>
              <a:t> Generate detailed specs (endpoints, schemas, mapping, errors)</a:t>
            </a:r>
          </a:p>
          <a:p>
            <a:pPr/>
            <a:r>
              <a:t>3. 🤖 </a:t>
            </a:r>
            <a:r>
              <a:rPr b="1"/>
              <a:t>Test:</a:t>
            </a:r>
            <a:r>
              <a:t> Generate contract tests, schema validation, mocks</a:t>
            </a:r>
          </a:p>
          <a:p>
            <a:pPr/>
            <a:r>
              <a:t/>
            </a:r>
            <a:r>
              <a:rPr b="1"/>
              <a:t>HITL:</a:t>
            </a:r>
            <a:r>
              <a:t> Interface specs reviewed before implementation</a:t>
            </a:r>
          </a:p>
          <a:p>
            <a:pPr/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Interfaces (3/3)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1. The Framework: AI-Paired Workflow</a:t>
            </a:r>
            <a:r>
              <a:t/>
            </a:r>
          </a:p>
          <a:p>
            <a:pPr/>
            <a:r>
              <a:t/>
            </a:r>
            <a:r>
              <a:rPr b="1"/>
              <a:t>Philosophy:</a:t>
            </a:r>
            <a:r>
              <a:t> Context-Driven Development (The "Prompt Package" Approach)</a:t>
            </a:r>
          </a:p>
          <a:p>
            <a:pPr/>
            <a:r>
              <a:t/>
            </a:r>
            <a:r>
              <a:rPr b="1"/>
              <a:t>The Shift:</a:t>
            </a:r>
            <a:r>
              <a:t> Developer moves from "Code Author" to "Reviewer &amp; Architect"</a:t>
            </a:r>
          </a:p>
          <a:p>
            <a:pPr/>
            <a:r>
              <a:t/>
            </a:r>
            <a:r>
              <a:rPr b="1"/>
              <a:t>The Input:</a:t>
            </a:r>
            <a:r>
              <a:t> Not just a text story, but a pre-assembled context packet (The Prompt Package)</a:t>
            </a:r>
          </a:p>
          <a:p>
            <a:pPr/>
            <a:r>
              <a:t/>
            </a:r>
            <a:r>
              <a:rPr b="1"/>
              <a:t>The Environment:</a:t>
            </a:r>
            <a:r>
              <a:t/>
            </a:r>
          </a:p>
          <a:p>
            <a:pPr/>
            <a:r>
              <a:t>Development: VS Code + Gemini Code Assist (Chat, Inline, Agent Mode, Code Review)</a:t>
            </a:r>
          </a:p>
          <a:p>
            <a:pPr/>
            <a:r>
              <a:t>Deployment: Gemini CLI (Cloud Run `/deploy`, Vertex AI MLOps)</a:t>
            </a:r>
          </a:p>
          <a:p>
            <a:pPr/>
            <a:r>
              <a:t/>
            </a:r>
            <a:r>
              <a:rPr b="1"/>
              <a:t>2. The Outputs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Implementation (The Context-Driven Developer) (1/2)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3. The AI Workflow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Verified By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Test Suite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Unit tests + E2E Stubs (Playwright)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Automated CI (Vitest/Playwright)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Source Code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Implementation matching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Linter + Peer Review + Gemini Code Review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Deployed Service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Cloud Run / Cloud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Gemini CLI deployment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Pull Request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Context-linked PR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summarizer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Inputs:</a:t>
            </a:r>
            <a:r>
              <a:t> The Prompt Package (Jira Story + Wireframes + API Contracts + Data Models)</a:t>
            </a:r>
          </a:p>
          <a:p>
            <a:pPr/>
            <a:r>
              <a:t/>
            </a:r>
            <a:r>
              <a:rPr b="1"/>
              <a:t>AI Actions (Development Phase - Code Assist):</a:t>
            </a:r>
            <a:r>
              <a:t/>
            </a:r>
          </a:p>
          <a:p>
            <a:pPr/>
            <a:r>
              <a:t>1.  </a:t>
            </a:r>
            <a:r>
              <a:rPr b="1"/>
              <a:t>Scaffold:</a:t>
            </a:r>
            <a:r>
              <a:t> Agent Mode creates file structure from Technical Brief</a:t>
            </a:r>
          </a:p>
          <a:p>
            <a:pPr/>
            <a:r>
              <a:t>2.  </a:t>
            </a:r>
            <a:r>
              <a:rPr b="1"/>
              <a:t>Test (Red):</a:t>
            </a:r>
            <a:r>
              <a:t> Generate failing tests from Gherkin ACs</a:t>
            </a:r>
          </a:p>
          <a:p>
            <a:pPr/>
            <a:r>
              <a:t>3.  </a:t>
            </a:r>
            <a:r>
              <a:rPr b="1"/>
              <a:t>Code (Green):</a:t>
            </a:r>
            <a:r>
              <a:t> Write code to pass tests using Design System</a:t>
            </a:r>
          </a:p>
          <a:p>
            <a:pPr/>
            <a:r>
              <a:t>4.  </a:t>
            </a:r>
            <a:r>
              <a:rPr b="1"/>
              <a:t>Refactor:</a:t>
            </a:r>
            <a:r>
              <a:t> Optimize and clean up code</a:t>
            </a:r>
          </a:p>
          <a:p>
            <a:pPr/>
            <a:r>
              <a:t/>
            </a:r>
            <a:r>
              <a:rPr b="1"/>
              <a:t>AI Actions (Deployment Phase - CLI):</a:t>
            </a:r>
            <a:r>
              <a:t/>
            </a:r>
          </a:p>
          <a:p>
            <a:pPr/>
            <a:r>
              <a:t>5.  </a:t>
            </a:r>
            <a:r>
              <a:rPr b="1"/>
              <a:t>Deploy:</a:t>
            </a:r>
            <a:r>
              <a:t> CLI `/deploy` command (Cloud Run/Functions)</a:t>
            </a:r>
          </a:p>
          <a:p>
            <a:pPr/>
            <a:r>
              <a:t>6.  </a:t>
            </a:r>
            <a:r>
              <a:rPr b="1"/>
              <a:t>MLOps:</a:t>
            </a:r>
            <a:r>
              <a:t> Deploy models to Vertex AI (if applicable)</a:t>
            </a:r>
          </a:p>
          <a:p>
            <a:pPr/>
            <a:r>
              <a:t/>
            </a:r>
            <a:r>
              <a:rPr b="1"/>
              <a:t>Jira Sync:</a:t>
            </a:r>
            <a:r>
              <a:t> Status updates, time logging, and PR linking</a:t>
            </a:r>
          </a:p>
          <a:p>
            <a:pPr/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Implementation (The Context-Driven Developer) (2/2)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AI Generates, Tools Execute</a:t>
            </a:r>
            <a:r>
              <a:t/>
            </a:r>
          </a:p>
          <a:p>
            <a:pPr/>
            <a:r>
              <a:t/>
            </a:r>
            <a:r>
              <a:rPr b="1"/>
              <a:t>🤖 AI (Gemini) generates:</a:t>
            </a:r>
            <a:r>
              <a:t> Test plans, test code, load scripts, chaos scenarios</a:t>
            </a:r>
          </a:p>
          <a:p>
            <a:pPr/>
            <a:r>
              <a:t/>
            </a:r>
            <a:r>
              <a:rPr b="1"/>
              <a:t>🔧 Tools execute:</a:t>
            </a:r>
            <a:r>
              <a:t> pytest, Playwright, k6, Locust run the generated tests</a:t>
            </a:r>
          </a:p>
          <a:p>
            <a:pPr/>
            <a:r>
              <a:t>---</a:t>
            </a:r>
          </a:p>
          <a:p>
            <a:pPr/>
            <a:r>
              <a:t/>
            </a:r>
            <a:r>
              <a:rPr b="1"/>
              <a:t>Testing is Continuous — Not a Phase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(1/6)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AI Does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During Requirements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1.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simulates personas, finds edge cases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During Story Writing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4.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generates E2E scripts from Gherkin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During Architecture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3.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generates contract tests from OpenAPI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During Implementation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2.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generates unit tests (TDD support)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Before Release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5. 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generates load scripts, chaos experiments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AI-Generated Test Artifacts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(2/6)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AI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 AI Generates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Test Plans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 Plan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`/test-plan`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Coverage matrix, test IDs, traceability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Unit Tests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 Plan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`/test-plan`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pytest / Vitest code with assertions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E2E Scripts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 Plan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`/test-plan`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Playwright `.spec.ts` with semantic locators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Simulation Reports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Simulation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`/simulate-persona`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Edge cases, accessibility tests per persona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Load Scripts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Resilience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`/load-test`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k6 / Locust scripts with thresholds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Chaos YAML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Resilience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`/chaos-test`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Chaos Mesh configs (requires approval)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The 5 Dimensions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(3/6)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AI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Output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1. Simulation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Personas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🤖 AI simulates user behaviors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Persona test reports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2. Components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🤖 AI generates 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pytest / Vitest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3. Contracts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OpenAPI specs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🤖 AI generates contract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Contract suites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4. Behavior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Gherkin ACs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🤖 AI generates E2E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Playwright scripts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5. Resilience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🤖 AI generates load/chaos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k6, Locust, Chaos Mesh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Test Lifecycle &amp; Tracking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(4/6)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AI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Human Role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Plan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 strategy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🤖 AI drafts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Human reviews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Script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 code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🤖 AI 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Human reviews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Execute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Tests run in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🔧 Automated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Defects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Failures tracked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Human triages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Automation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CI pipeline maintained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🔧 GitOps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AI-Driven Test Generation Workflow</a:t>
            </a:r>
            <a:r>
              <a:t/>
            </a:r>
          </a:p>
          <a:p>
            <a:pPr/>
            <a:r>
              <a:t>When a story moves to "Ready for Development":</a:t>
            </a:r>
          </a:p>
          <a:p>
            <a:pPr/>
            <a:r>
              <a:t>1. 🤖 </a:t>
            </a:r>
            <a:r>
              <a:rPr b="1"/>
              <a:t>Parse Gherkin ACs</a:t>
            </a:r>
            <a:r>
              <a:t> → Generate test skeletons (Playwright)</a:t>
            </a:r>
          </a:p>
          <a:p>
            <a:pPr/>
            <a:r>
              <a:t>2. 🤖 </a:t>
            </a:r>
            <a:r>
              <a:rPr b="1"/>
              <a:t>Suggest Edge Cases</a:t>
            </a:r>
            <a:r>
              <a:t> → AI adds commented-out additional tests</a:t>
            </a:r>
          </a:p>
          <a:p>
            <a:pPr/>
            <a:r>
              <a:t>3. 🤖 </a:t>
            </a:r>
            <a:r>
              <a:rPr b="1"/>
              <a:t>Create PR</a:t>
            </a:r>
            <a:r>
              <a:t> → Test file committed, assigned to QA Engineer</a:t>
            </a:r>
          </a:p>
          <a:p>
            <a:pPr/>
            <a:r>
              <a:t>4. ✅ </a:t>
            </a:r>
            <a:r>
              <a:rPr b="1"/>
              <a:t>Human Reviews</a:t>
            </a:r>
            <a:r>
              <a:t> → QA implements step definitions, reviews coverage</a:t>
            </a:r>
          </a:p>
          <a:p>
            <a:pPr/>
            <a:r>
              <a:t>&gt; Result: By the time a developer starts, the test framework is already in place.</a:t>
            </a:r>
          </a:p>
          <a:p>
            <a:pPr/>
            <a:r>
              <a:t>---</a:t>
            </a:r>
          </a:p>
          <a:p>
            <a:pPr/>
            <a:r>
              <a:t/>
            </a:r>
            <a:r>
              <a:rPr b="1"/>
              <a:t>Test Data Management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(5/6)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&gt; Golden Rule: Tests never share mutable state.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Ephemeral Environments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Pristine, isolated DB per test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Every PR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Seed Data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Version-controlled synthetic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Environment creation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Dynamic Data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Tests create/teardown own data via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During execution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Testing (6/6)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The Challenge</a:t>
            </a:r>
            <a:r>
              <a:t/>
            </a:r>
          </a:p>
          <a:p>
            <a:pPr/>
            <a:r>
              <a:t>AI models can only process a limited amount of text at once (the "context window"). Even with 1-2 million tokens, you can't fit everything—so strategic context management is essential.</a:t>
            </a:r>
          </a:p>
          <a:p>
            <a:pPr/>
            <a:r>
              <a:t/>
            </a:r>
            <a:r>
              <a:rPr b="1"/>
              <a:t>Current Model Capacities (2025)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(1/7)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Context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Equivalent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Gemini 2.0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2M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~100K lines of code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Gemini 2.0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1M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~50K lines of code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Code Assist (chat)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32K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~1,600 lines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Code Assist (autocomplete)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8K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~400 lines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The 4-Layer Context Strategy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(2/7)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Tool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1. Pre-Process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Summarize bulk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Before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NotebookLM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2. Chunk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Hierarchical index → summary →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During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Manual structuring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3. Context Drawer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Explicitly include/exclude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During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Code Assist UI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4. Caching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Reuse common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Across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Vertex AI API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Key Strategies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(3/7)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Progressive Disclosure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Start with summaries, load details on demand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Reference Linking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Link to docs instead of embedding full content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Semantic Chunking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Add metadata (ID, summary, keywords) to chunks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Task-Specific Assembly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Match context to the type of work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Document Structure for Context Optimization</a:t>
            </a:r>
            <a:r>
              <a:t/>
            </a:r>
          </a:p>
          <a:p>
            <a:pPr/>
            <a:r>
              <a:t>```</a:t>
            </a:r>
          </a:p>
          <a:p>
            <a:pPr/>
            <a:r>
              <a:t>docs/</a:t>
            </a:r>
          </a:p>
          <a:p>
            <a:pPr/>
            <a:r>
              <a:t>├── context/                  # Pre-computed summaries</a:t>
            </a:r>
          </a:p>
          <a:p>
            <a:pPr/>
            <a:r>
              <a:t>│   ├── architecture-summary.md</a:t>
            </a:r>
          </a:p>
          <a:p>
            <a:pPr/>
            <a:r>
              <a:t>│   ├── api-index.md</a:t>
            </a:r>
          </a:p>
          <a:p>
            <a:pPr/>
            <a:r>
              <a:t>│   └── glossary.md</a:t>
            </a:r>
          </a:p>
          <a:p>
            <a:pPr/>
            <a:r>
              <a:t>├── architecture/</a:t>
            </a:r>
          </a:p>
          <a:p>
            <a:pPr/>
            <a:r>
              <a:t>│   ├── index.md              # Links to all sections</a:t>
            </a:r>
          </a:p>
          <a:p>
            <a:pPr/>
            <a:r>
              <a:t>│   ├── summaries/            # Quick reference</a:t>
            </a:r>
          </a:p>
          <a:p>
            <a:pPr/>
            <a:r>
              <a:t>│   └── details/              # Full specs</a:t>
            </a:r>
          </a:p>
          <a:p>
            <a:pPr/>
            <a:r>
              <a:t>└── .gemini/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(4/7)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>└── context-profiles/     # Work-type profiles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/>
            </a:r>
            <a:r>
              <a:rPr b="1"/>
              <a:t>Best Practices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(5/7)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---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Don't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Pre-summarize large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Load entire codebase every time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Create index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Embed full specs in stories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Use Context Drawer to exclude irrelevant paths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Include node_modules, dist, etc.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Cache STYLEGUIDE.md and glossary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Re-send common context every request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✅ Chunk by meaning (semantic)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❌ Chunk by arbitrary size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Session State Management</a:t>
            </a:r>
            <a:r>
              <a:t/>
            </a:r>
          </a:p>
          <a:p>
            <a:pPr/>
            <a:r>
              <a:t>For multi-session work (PRDs, Epics spanning days/weeks), the framework includes `SessionStateManager`: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(6/7)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Implementation:</a:t>
            </a:r>
            <a:r>
              <a:t> `standards/session_state_manager.py`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What It Tracks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Session Log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Agent used, tools run, outcomes, open questions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Entity Registry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Domain entities discovered (CRUD, states)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Resumption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Where user left off, next steps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/>
            </a:r>
            <a:r>
              <a:rPr b="1"/>
              <a:t>Design Details:</a:t>
            </a:r>
            <a:r>
              <a:t> `ai-agent-recommendation-and-workflow.md` Section 8</a:t>
            </a:r>
          </a:p>
          <a:p>
            <a:pPr/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9: Context Management (7/7)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The Problem: Incomplete Backlogs</a:t>
            </a:r>
            <a:r>
              <a:t/>
            </a:r>
          </a:p>
          <a:p>
            <a:pPr/>
            <a:r>
              <a:t>Requirements exist, but dependencies are hidden</a:t>
            </a:r>
          </a:p>
          <a:p>
            <a:pPr/>
            <a:r>
              <a:t>Blockers discovered mid-sprint</a:t>
            </a:r>
          </a:p>
          <a:p>
            <a:pPr/>
            <a:r>
              <a:t>Build order is often sub-optimal</a:t>
            </a:r>
          </a:p>
          <a:p>
            <a:pPr/>
            <a:r>
              <a:t/>
            </a:r>
            <a:r>
              <a:rPr b="1"/>
              <a:t>The Solution: Continuous AI Monitoring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7: AI Planning Intelligence (1/2)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&gt; </a:t>
            </a:r>
            <a:r>
              <a:rPr b="1"/>
              <a:t>Key Insight:</a:t>
            </a:r>
            <a:r>
              <a:t> This is Jira-centric. AI watches Jira and alerts you.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Discovers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infers dependencies from story content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Sequences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recommends optimal build order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Alerts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AI notifies when dependency health changes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7: AI Planning Intelligence (2/2)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>Before executing changes, AI runs a </a:t>
            </a:r>
            <a:r>
              <a:rPr b="1"/>
              <a:t>Blast Radius</a:t>
            </a:r>
            <a:r>
              <a:t> check: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8: Change Management (1/2)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Slash Command:</a:t>
            </a:r>
            <a:r>
              <a:t> `/impact-assess` calculates the cost of change before you commit.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Asesses Impact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Questions Answered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PRD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Does this conflict with goals?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Epics/Stories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What needs to be added vs. reworked?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Architecture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Do we need new components?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Timeline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Does this fit in the sprint?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8: Change Management (2/2)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Master inventory of specialized AI agents: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A: Agent Registry (1/2)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>&gt; ℹ️ </a:t>
            </a:r>
            <a:r>
              <a:rPr b="1"/>
              <a:t>Note:</a:t>
            </a:r>
            <a:r>
              <a:t> All agents are run from VS Code terminal or chat.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Key Slash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Output/Purpose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1: Home Base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Orchestrator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`(User is Orchestrator)`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Invokes all other agents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Requirements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PRD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`/prd-discover`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PRD from stakeholder input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Elaboration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Epic Decomposition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`/epic-split`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Break PRD into Epics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Elaboration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Story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`/story-gen`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Break Epic into Stories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Design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UX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`/ux-personas`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Personas &amp; Wireframes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Design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Interface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`/interface-spec`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API/Interface contracts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Design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Architecture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`/arch-design`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C4 Diagrams, ADRs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Build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Code Governance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`/code-review`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Compliance check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Test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Test Plan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`/test-plan`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E2E/Unit test plans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Test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Simulation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`/simulate-persona`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User behavior simulation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Test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Resilience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`/chaos-test`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Load &amp; failure testing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5: Release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Integration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`/ci-check`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Release readiness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8: Planning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AI Planning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`/dep-discover` &lt;br&gt; `/dep-health` &lt;br&gt; `/dep-sequence` &lt;br&gt; `/sprint-readiness`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Dependency &amp; Health check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9: Change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/>
                      </a:r>
                      <a:r>
                        <a:rPr b="0" sz="1000">
                          <a:latin typeface="Arial"/>
                        </a:rPr>
                        <a:t>Change Mgmt Agent</a:t>
                      </a:r>
                      <a:r>
                        <a:rPr sz="1000" b="0">
                          <a:latin typeface="Arial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`/impact-assess` &lt;br&gt; `/scope-change` &lt;br&gt; `/architecture-impact`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What-If Impact Analysis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A: Agent Registry (2/2)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512064" y="128016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Requirements Prompts (2)</a:t>
            </a:r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Prompt Registry (1/5)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Elaboration Prompts (2)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Prompt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`PRD_GEN`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`PRD_GEN-synthesize-prd.md`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Synthesize PRD from stakeholder input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`PRD_GAP`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`PRD_GAP-identify-gaps.md`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Identify requirements gaps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Prompt Registry (2/5)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UX Design Prompts (3)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Prompt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`EPIC_GEN`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`EPIC_GEN-decompose-epics.md`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Decompose PRD into Epics (SPIDR)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`STORY_GEN`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`STORY_GEN-generate-stories.md`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User Stories from Epics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Prompt Registry (3/5)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Architecture Prompts (7)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Prompt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`UX_001`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`UX_001-flow-mapping.md`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Map user flows and journeys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`UX_002`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`UX_002-heuristic-review.md`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Heuristic usability review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`UX_003`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`UX_003-generate-wireframe.md`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wireframe descriptions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Prompt Registry (4/5)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512064" y="5486400"/>
            <a:ext cx="11265408" cy="914400"/>
          </a:xfrm>
        </p:spPr>
        <p:txBody>
          <a:bodyPr/>
          <a:lstStyle/>
          <a:p/>
          <a:p>
            <a:pPr/>
            <a:r>
              <a:t/>
            </a:r>
            <a:r>
              <a:rPr b="1"/>
              <a:t>Testing Prompts (4)</a:t>
            </a:r>
            <a:r>
              <a:t/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Prompt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`ARCH_001`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`ARCH_001-generate-c4.md`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C4 diagrams (Mermaid)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`ARCH_002`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`ARCH_002-generate-dbml.md`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DBML data models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`ARCH_003`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`ARCH_003-generate-openapi.md`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OpenAPI specs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`ARCH_004`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`ARCH_004-generate-python-diagrams.md`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Python infrastructure diagrams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`INT_DISCOVER`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`INT_DISCOVER-interface-discovery.md`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Discover all system interfaces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`INT_SPEC`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`INT_SPEC-interface-specification.md`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interface specifications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`INT_TEST`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`INT_TEST-interface-tests.md`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interface contract tests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1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B: Prompt Registry (5/5)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Prompt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200" b="1">
                          <a:latin typeface="Arial"/>
                        </a:rPr>
                        <a:t>Purpose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`TEST_GEN`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`TEST_GEN-generate-test-plan.md`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test plans from stories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`SIM_001`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`SIM_001-persona-simulation.md`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Persona-based simulation testing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`LOAD_001`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`LOAD_001-generate-load-tests.md`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k6/Locust load tests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`CHAOS_001`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`CHAOS_001-chaos-scenarios.md`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  <a:p>
                      <a:pPr/>
                      <a:r>
                        <a:rPr sz="1000" b="0">
                          <a:latin typeface="Arial"/>
                        </a:rPr>
                        <a:t>Generate chaos engineering scenarios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1">
      <a:dk1>
        <a:srgbClr val="003359"/>
      </a:dk1>
      <a:lt1>
        <a:srgbClr val="FFFFFF"/>
      </a:lt1>
      <a:dk2>
        <a:srgbClr val="373737"/>
      </a:dk2>
      <a:lt2>
        <a:srgbClr val="D8DCDB"/>
      </a:lt2>
      <a:accent1>
        <a:srgbClr val="007DB3"/>
      </a:accent1>
      <a:accent2>
        <a:srgbClr val="003359"/>
      </a:accent2>
      <a:accent3>
        <a:srgbClr val="FF8C11"/>
      </a:accent3>
      <a:accent4>
        <a:srgbClr val="49C7EB"/>
      </a:accent4>
      <a:accent5>
        <a:srgbClr val="006140"/>
      </a:accent5>
      <a:accent6>
        <a:srgbClr val="A00C30"/>
      </a:accent6>
      <a:hlink>
        <a:srgbClr val="007DB3"/>
      </a:hlink>
      <a:folHlink>
        <a:srgbClr val="007DB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o_CleanDeck.pptx" id="{7DE52785-C7B9-4110-A6A7-1ABBEF27B600}" vid="{D9F37E43-A82F-4CA2-B3AF-2E3938B80957}"/>
    </a:ext>
  </a:extLst>
</a:theme>
</file>

<file path=ppt/theme/theme2.xml><?xml version="1.0" encoding="utf-8"?>
<a:theme xmlns:a="http://schemas.openxmlformats.org/drawingml/2006/main" name="Custom Design">
  <a:themeElements>
    <a:clrScheme name="Custom 11">
      <a:dk1>
        <a:srgbClr val="003359"/>
      </a:dk1>
      <a:lt1>
        <a:srgbClr val="FFFFFF"/>
      </a:lt1>
      <a:dk2>
        <a:srgbClr val="373737"/>
      </a:dk2>
      <a:lt2>
        <a:srgbClr val="D8DCDB"/>
      </a:lt2>
      <a:accent1>
        <a:srgbClr val="007DB3"/>
      </a:accent1>
      <a:accent2>
        <a:srgbClr val="003359"/>
      </a:accent2>
      <a:accent3>
        <a:srgbClr val="FF8C11"/>
      </a:accent3>
      <a:accent4>
        <a:srgbClr val="49C7EB"/>
      </a:accent4>
      <a:accent5>
        <a:srgbClr val="006140"/>
      </a:accent5>
      <a:accent6>
        <a:srgbClr val="A00C30"/>
      </a:accent6>
      <a:hlink>
        <a:srgbClr val="007DB3"/>
      </a:hlink>
      <a:folHlink>
        <a:srgbClr val="007DB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o_CleanDeck.pptx" id="{7DE52785-C7B9-4110-A6A7-1ABBEF27B600}" vid="{8FE8AF9C-05D2-4957-9DA2-2BC69500A53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D91EC1D9C47747B95C8DE029D3DF57" ma:contentTypeVersion="3" ma:contentTypeDescription="Create a new document." ma:contentTypeScope="" ma:versionID="dc7f9084e40ad41e57b4b41b4ed0fd4c">
  <xsd:schema xmlns:xsd="http://www.w3.org/2001/XMLSchema" xmlns:xs="http://www.w3.org/2001/XMLSchema" xmlns:p="http://schemas.microsoft.com/office/2006/metadata/properties" xmlns:ns2="b189ed59-ffa9-46cb-be7c-81a64a2427b7" targetNamespace="http://schemas.microsoft.com/office/2006/metadata/properties" ma:root="true" ma:fieldsID="324a1f71500e3fa9ae3ffde60cfc9257" ns2:_="">
    <xsd:import namespace="b189ed59-ffa9-46cb-be7c-81a64a2427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89ed59-ffa9-46cb-be7c-81a64a2427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ECC190-A101-441D-B6DE-671CDCB11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89ed59-ffa9-46cb-be7c-81a64a2427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8E1BA6-04EC-4390-8B2A-8C18C9FB1B81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  <ds:schemaRef ds:uri="b189ed59-ffa9-46cb-be7c-81a64a2427b7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1DB20E3-3C49-41AF-AEFC-B08E666B396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cc05aab-6283-406f-8421-8fb05065eb76}" enabled="1" method="Standard" siteId="{6f8518e1-bbdc-41ae-a82c-024046d586d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2612</TotalTime>
  <Words>222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1_Custom Design</vt:lpstr>
      <vt:lpstr>Custom Design</vt:lpstr>
      <vt:lpstr>PowerPoint Presentation</vt:lpstr>
      <vt:lpstr>PowerPoint Presentation</vt:lpstr>
      <vt:lpstr>PowerPoint Presentation</vt:lpstr>
    </vt:vector>
  </TitlesOfParts>
  <Company>Definity Financial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 Kurylowicz(v)</dc:creator>
  <cp:lastModifiedBy>David Arthurs</cp:lastModifiedBy>
  <cp:revision>3</cp:revision>
  <dcterms:created xsi:type="dcterms:W3CDTF">2026-01-27T16:51:13Z</dcterms:created>
  <dcterms:modified xsi:type="dcterms:W3CDTF">2026-01-29T13:14:10Z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0x01010035D91EC1D9C47747B95C8DE029D3DF57</vt:lpwstr>
  </property>
</Properties>
</file>